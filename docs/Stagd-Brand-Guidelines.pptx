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5234" y="609534"/>
            <a:ext cx="2337891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spc="99" kern="0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GUIDELINES · V1.0 · 2026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11244626" y="609534"/>
            <a:ext cx="2111673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spc="99" kern="0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· INTERNAL USE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145234" y="3058087"/>
            <a:ext cx="6708782" cy="3266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0" spc="-54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</a:t>
            </a:r>
            <a:endParaRPr lang="en-US" sz="18000" dirty="0"/>
          </a:p>
        </p:txBody>
      </p:sp>
      <p:sp>
        <p:nvSpPr>
          <p:cNvPr id="5" name="Shape 3"/>
          <p:cNvSpPr/>
          <p:nvPr/>
        </p:nvSpPr>
        <p:spPr>
          <a:xfrm rot="1199999">
            <a:off x="9210907" y="3448398"/>
            <a:ext cx="1123950" cy="1228725"/>
          </a:xfrm>
          <a:prstGeom prst="roundRect">
            <a:avLst>
              <a:gd name="adj" fmla="val 7517"/>
            </a:avLst>
          </a:prstGeom>
          <a:solidFill>
            <a:srgbClr val="FFDE0D"/>
          </a:solidFill>
          <a:ln/>
        </p:spPr>
      </p:sp>
      <p:sp>
        <p:nvSpPr>
          <p:cNvPr id="6" name="Text 4"/>
          <p:cNvSpPr/>
          <p:nvPr/>
        </p:nvSpPr>
        <p:spPr>
          <a:xfrm rot="1199999">
            <a:off x="9422133" y="3532888"/>
            <a:ext cx="777697" cy="1097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16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8316" dirty="0"/>
          </a:p>
        </p:txBody>
      </p:sp>
      <p:sp>
        <p:nvSpPr>
          <p:cNvPr id="7" name="Text 5"/>
          <p:cNvSpPr/>
          <p:nvPr/>
        </p:nvSpPr>
        <p:spPr>
          <a:xfrm>
            <a:off x="9887149" y="3058087"/>
            <a:ext cx="1785905" cy="3266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0" spc="-54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8000" dirty="0"/>
          </a:p>
        </p:txBody>
      </p:sp>
      <p:sp>
        <p:nvSpPr>
          <p:cNvPr id="8" name="Text 6"/>
          <p:cNvSpPr/>
          <p:nvPr/>
        </p:nvSpPr>
        <p:spPr>
          <a:xfrm>
            <a:off x="3145234" y="5875238"/>
            <a:ext cx="10438911" cy="31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spc="14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work, staged.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45234" y="8694870"/>
            <a:ext cx="1175544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spc="83" kern="0" dirty="0">
                <a:solidFill>
                  <a:srgbClr val="FFFFFF">
                    <a:alpha val="3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Rev. April 2026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556380"/>
            <a:ext cx="16425335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3" name="Text 1"/>
          <p:cNvSpPr/>
          <p:nvPr/>
        </p:nvSpPr>
        <p:spPr>
          <a:xfrm>
            <a:off x="3145234" y="914301"/>
            <a:ext cx="10438911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spc="116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BRAND IDENTITY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145234" y="1462980"/>
            <a:ext cx="8829676" cy="2918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spc="-36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STAGD IS THE </a:t>
            </a:r>
            <a:pPr algn="l" indent="0" marL="0">
              <a:lnSpc>
                <a:spcPct val="105000"/>
              </a:lnSpc>
              <a:buNone/>
            </a:pPr>
            <a:r>
              <a:rPr lang="en-US" sz="3600" spc="-36" kern="0" dirty="0">
                <a:solidFill>
                  <a:srgbClr val="FFDE0D"/>
                </a:solidFill>
                <a:highlight>
                  <a:srgbClr val="111111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CULTURAL PULSE </a:t>
            </a:r>
            <a:pPr algn="l" indent="0" marL="0">
              <a:lnSpc>
                <a:spcPct val="105000"/>
              </a:lnSpc>
              <a:buNone/>
            </a:pPr>
            <a:r>
              <a:rPr lang="en-US" sz="3600" spc="-36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YOUR CITY — A PLATFORM THAT SURFACES THE EVENTS, ARTISTS, AND EXPERIENCES THAT MAKE URBAN LIFE WORTH LIVING.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145234" y="4724301"/>
            <a:ext cx="10134865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6" name="Text 4"/>
          <p:cNvSpPr/>
          <p:nvPr/>
        </p:nvSpPr>
        <p:spPr>
          <a:xfrm>
            <a:off x="3145234" y="5115884"/>
            <a:ext cx="6278880" cy="1044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exist at the intersection of underground culture and mainstream accessibility. Stagd doesn't just list events — it curates, contextualises, and celebrates the creative communities that give cities their soul. Our voice is bold, our design is deliberate, and our editorial eye is everything.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45234" y="6236229"/>
            <a:ext cx="6278880" cy="541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brand is built from the visual language of concert posters, zine culture, and independent print — amplified for the screen 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45234" y="7272569"/>
            <a:ext cx="10134865" cy="2369509"/>
          </a:xfrm>
          <a:prstGeom prst="rect">
            <a:avLst/>
          </a:prstGeom>
          <a:solidFill>
            <a:srgbClr val="E0DDD4"/>
          </a:solidFill>
          <a:ln w="10583">
            <a:solidFill>
              <a:srgbClr val="E0D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5818" y="7283153"/>
            <a:ext cx="2517676" cy="2348343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10" name="Text 8"/>
          <p:cNvSpPr/>
          <p:nvPr/>
        </p:nvSpPr>
        <p:spPr>
          <a:xfrm>
            <a:off x="3422386" y="7587919"/>
            <a:ext cx="2060740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spc="83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422386" y="7907899"/>
            <a:ext cx="2060740" cy="282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b="1" spc="24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EDITORIAL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2386" y="8227881"/>
            <a:ext cx="2060740" cy="91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piece of content is curated with intent. We have a point of view. We're not an aggregator — we're an editor.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87715" y="7283153"/>
            <a:ext cx="2517841" cy="2348343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14" name="Text 12"/>
          <p:cNvSpPr/>
          <p:nvPr/>
        </p:nvSpPr>
        <p:spPr>
          <a:xfrm>
            <a:off x="5954283" y="7587919"/>
            <a:ext cx="2060906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spc="83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954283" y="7907899"/>
            <a:ext cx="2060906" cy="282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b="1" spc="24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54283" y="8227881"/>
            <a:ext cx="2060906" cy="91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scale, weight, and contrast without apology. The city is loud; our design earns its place in the noise.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19778" y="7283153"/>
            <a:ext cx="2517676" cy="2348343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18" name="Text 16"/>
          <p:cNvSpPr/>
          <p:nvPr/>
        </p:nvSpPr>
        <p:spPr>
          <a:xfrm>
            <a:off x="8486345" y="7587919"/>
            <a:ext cx="2060740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spc="83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8486345" y="7907899"/>
            <a:ext cx="2060740" cy="282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b="1" spc="24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86345" y="8227881"/>
            <a:ext cx="2060740" cy="91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Stagd is rooted in place. Karachi first, then the world. The brand carries the energy of street culture and neighbourhood pride.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751675" y="7283153"/>
            <a:ext cx="2517841" cy="2348343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22" name="Text 20"/>
          <p:cNvSpPr/>
          <p:nvPr/>
        </p:nvSpPr>
        <p:spPr>
          <a:xfrm>
            <a:off x="11018243" y="7587919"/>
            <a:ext cx="2060906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spc="83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11018243" y="7907899"/>
            <a:ext cx="2060906" cy="282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b="1" spc="24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KINETIC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18243" y="8227881"/>
            <a:ext cx="2060906" cy="1136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are alive. Our brand moves with them — through motion, transitions, and editorial rhythm that mirrors live performance.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939037"/>
            <a:ext cx="16425335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3" name="Text 1"/>
          <p:cNvSpPr/>
          <p:nvPr/>
        </p:nvSpPr>
        <p:spPr>
          <a:xfrm>
            <a:off x="3145234" y="914300"/>
            <a:ext cx="10438911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spc="116" kern="0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TAGLINE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145234" y="1462980"/>
            <a:ext cx="10438911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TAGLINE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145234" y="2384887"/>
            <a:ext cx="6278880" cy="792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words. A double meaning. The platform </a:t>
            </a:r>
            <a:pPr algn="l" indent="0" marL="0">
              <a:lnSpc>
                <a:spcPct val="165000"/>
              </a:lnSpc>
              <a:buNone/>
            </a:pPr>
            <a:r>
              <a:rPr lang="en-US" sz="1200" i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</a:t>
            </a:r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work — putting it on stage, in front of an audience — and it </a:t>
            </a:r>
            <a:pPr algn="l" indent="0" marL="0">
              <a:lnSpc>
                <a:spcPct val="165000"/>
              </a:lnSpc>
              <a:buNone/>
            </a:pPr>
            <a:r>
              <a:rPr lang="en-US" sz="1200" i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</a:t>
            </a:r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for the world, organising chaos into something showable.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45234" y="7630418"/>
            <a:ext cx="10134865" cy="10583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145234" y="3748980"/>
            <a:ext cx="10134865" cy="10583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993211" y="4521564"/>
            <a:ext cx="10438911" cy="2384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0500" spc="-21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WORK, </a:t>
            </a:r>
            <a:pPr algn="ctr" indent="0" marL="0">
              <a:lnSpc>
                <a:spcPct val="88000"/>
              </a:lnSpc>
              <a:buNone/>
            </a:pPr>
            <a:r>
              <a:rPr lang="en-US" sz="10500" spc="-210" kern="0" dirty="0">
                <a:solidFill>
                  <a:srgbClr val="FFDE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STAGED.</a:t>
            </a:r>
            <a:endParaRPr lang="en-US" sz="10500" dirty="0"/>
          </a:p>
        </p:txBody>
      </p:sp>
      <p:sp>
        <p:nvSpPr>
          <p:cNvPr id="9" name="Shape 7"/>
          <p:cNvSpPr/>
          <p:nvPr/>
        </p:nvSpPr>
        <p:spPr>
          <a:xfrm>
            <a:off x="3145234" y="8250536"/>
            <a:ext cx="10134865" cy="2583987"/>
          </a:xfrm>
          <a:prstGeom prst="rect">
            <a:avLst/>
          </a:prstGeom>
          <a:solidFill>
            <a:srgbClr val="FFFFFF">
              <a:alpha val="12000"/>
            </a:srgbClr>
          </a:solidFill>
          <a:ln w="10583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5818" y="8261119"/>
            <a:ext cx="3361697" cy="25628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3422386" y="8565886"/>
            <a:ext cx="291341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90" kern="0" dirty="0">
                <a:solidFill>
                  <a:srgbClr val="FFDE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USAGE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22386" y="8870486"/>
            <a:ext cx="2913418" cy="616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WORK, STAGED.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22386" y="9563530"/>
            <a:ext cx="2913418" cy="446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Lockup with the wordmark on covers, hero pages, app store listings, marketing landing pages.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6531736" y="8261119"/>
            <a:ext cx="3361697" cy="25628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Text 13"/>
          <p:cNvSpPr/>
          <p:nvPr/>
        </p:nvSpPr>
        <p:spPr>
          <a:xfrm>
            <a:off x="6798304" y="8565886"/>
            <a:ext cx="291341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90" kern="0" dirty="0">
                <a:solidFill>
                  <a:srgbClr val="FFDE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798304" y="8870486"/>
            <a:ext cx="2913418" cy="31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work, staged.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98304" y="9201878"/>
            <a:ext cx="2913418" cy="31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WORK, STAGED.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798304" y="9609502"/>
            <a:ext cx="2913418" cy="855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case for body and supporting type. All-caps in display only. Always written with a comma after "work" and a period at the end — full sentence.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9907655" y="8261119"/>
            <a:ext cx="3361862" cy="25628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Text 18"/>
          <p:cNvSpPr/>
          <p:nvPr/>
        </p:nvSpPr>
        <p:spPr>
          <a:xfrm>
            <a:off x="10174222" y="8565886"/>
            <a:ext cx="2913589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90" kern="0" dirty="0">
                <a:solidFill>
                  <a:srgbClr val="FFDE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DON'T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174222" y="8870486"/>
            <a:ext cx="2913589" cy="251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strike="sngStrike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Work Staged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174222" y="9178893"/>
            <a:ext cx="2913589" cy="251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strike="sngStrike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Work, Staged"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174222" y="9487298"/>
            <a:ext cx="2913589" cy="251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strike="sngStrike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work — staged!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174222" y="9795702"/>
            <a:ext cx="2913589" cy="251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strike="sngStrike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#YourWorkStaged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174222" y="10142141"/>
            <a:ext cx="2913589" cy="415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title case. No quotation marks. No em-dash variants. Never as a hashtag.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45234" y="11291590"/>
            <a:ext cx="10134865" cy="2733146"/>
          </a:xfrm>
          <a:prstGeom prst="rect">
            <a:avLst/>
          </a:prstGeom>
          <a:solidFill>
            <a:srgbClr val="FFFFFF">
              <a:alpha val="12000"/>
            </a:srgbClr>
          </a:solidFill>
          <a:ln w="10583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55818" y="11302173"/>
            <a:ext cx="5049738" cy="2711979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8" name="Text 26"/>
          <p:cNvSpPr/>
          <p:nvPr/>
        </p:nvSpPr>
        <p:spPr>
          <a:xfrm>
            <a:off x="3460585" y="11606940"/>
            <a:ext cx="4573411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90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MEANS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60585" y="11892525"/>
            <a:ext cx="4573411" cy="697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(verb). 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present, organise, or set up for an audience. Stagd takes the work creators already do — gigs, exhibitions, workshops, releases — and stages it. The platform is the stage. The audience is the city.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19778" y="11302173"/>
            <a:ext cx="5049738" cy="2711979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1" name="Text 29"/>
          <p:cNvSpPr/>
          <p:nvPr/>
        </p:nvSpPr>
        <p:spPr>
          <a:xfrm>
            <a:off x="8524545" y="11606940"/>
            <a:ext cx="4573411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90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TONAL VARIANTS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524545" y="11892525"/>
            <a:ext cx="4573411" cy="31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STAGED.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524545" y="12242932"/>
            <a:ext cx="4573411" cy="31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ANYTHING.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524545" y="12593341"/>
            <a:ext cx="4573411" cy="31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MADE FOR STAGING.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524545" y="12943747"/>
            <a:ext cx="4573411" cy="31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STAGE FOR THE CITY.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524545" y="13332354"/>
            <a:ext cx="4573411" cy="415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sparingly — for campaigns, social, secondary CTAs. Primary tagline always returns to "Your work, staged."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505749"/>
            <a:ext cx="16425335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3" name="Text 1"/>
          <p:cNvSpPr/>
          <p:nvPr/>
        </p:nvSpPr>
        <p:spPr>
          <a:xfrm>
            <a:off x="3145234" y="914302"/>
            <a:ext cx="10438911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spc="116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LOGO &amp; WORDMARK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145234" y="1462980"/>
            <a:ext cx="10438911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b="1" spc="-108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MARK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145234" y="2384889"/>
            <a:ext cx="6278880" cy="1044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Stagd wordmark reads </a:t>
            </a:r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STAG·D </a:t>
            </a:r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but the apostrophe is a rotated lowercase "e", stamped in Signal Yellow at a 20° angle. This typographic trick encodes the full word </a:t>
            </a:r>
            <a:pPr algn="l" indent="0" marL="0">
              <a:lnSpc>
                <a:spcPct val="165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</a:t>
            </a:r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keeping the cultural shorthand of the apostrophe. It's a symbol that rewards a second look.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45234" y="3771967"/>
            <a:ext cx="10134865" cy="3845388"/>
          </a:xfrm>
          <a:prstGeom prst="rect">
            <a:avLst/>
          </a:prstGeom>
          <a:solidFill>
            <a:srgbClr val="E0DDD4"/>
          </a:solidFill>
          <a:ln w="10583">
            <a:solidFill>
              <a:srgbClr val="E0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55818" y="3782551"/>
            <a:ext cx="5049738" cy="1905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4359837" y="4226884"/>
            <a:ext cx="2016258" cy="1001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400" spc="-189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 rot="1199999">
            <a:off x="6262456" y="4353820"/>
            <a:ext cx="266700" cy="314325"/>
          </a:xfrm>
          <a:prstGeom prst="roundRect">
            <a:avLst>
              <a:gd name="adj" fmla="val 7817"/>
            </a:avLst>
          </a:prstGeom>
          <a:solidFill>
            <a:srgbClr val="FFDE0D"/>
          </a:solidFill>
          <a:ln/>
        </p:spPr>
      </p:sp>
      <p:sp>
        <p:nvSpPr>
          <p:cNvPr id="10" name="Text 8"/>
          <p:cNvSpPr/>
          <p:nvPr/>
        </p:nvSpPr>
        <p:spPr>
          <a:xfrm rot="1199999">
            <a:off x="6281689" y="4379881"/>
            <a:ext cx="228234" cy="300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2" b="1" spc="-189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052" dirty="0"/>
          </a:p>
        </p:txBody>
      </p:sp>
      <p:sp>
        <p:nvSpPr>
          <p:cNvPr id="11" name="Text 9"/>
          <p:cNvSpPr/>
          <p:nvPr/>
        </p:nvSpPr>
        <p:spPr>
          <a:xfrm>
            <a:off x="6491883" y="4226884"/>
            <a:ext cx="585688" cy="1001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400" spc="-189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346318" y="5382948"/>
            <a:ext cx="1743406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FFFFFF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· DARK BACKGROUND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219778" y="3782551"/>
            <a:ext cx="5049738" cy="1905000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14" name="Text 12"/>
          <p:cNvSpPr/>
          <p:nvPr/>
        </p:nvSpPr>
        <p:spPr>
          <a:xfrm>
            <a:off x="9423797" y="4253180"/>
            <a:ext cx="2016258" cy="100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400" spc="-189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</a:t>
            </a:r>
            <a:endParaRPr lang="en-US" sz="5400" dirty="0"/>
          </a:p>
        </p:txBody>
      </p:sp>
      <p:sp>
        <p:nvSpPr>
          <p:cNvPr id="15" name="Shape 13"/>
          <p:cNvSpPr/>
          <p:nvPr/>
        </p:nvSpPr>
        <p:spPr>
          <a:xfrm rot="1199999">
            <a:off x="11326416" y="4380112"/>
            <a:ext cx="266700" cy="314325"/>
          </a:xfrm>
          <a:prstGeom prst="roundRect">
            <a:avLst>
              <a:gd name="adj" fmla="val 7817"/>
            </a:avLst>
          </a:prstGeom>
          <a:solidFill>
            <a:srgbClr val="FFDE0D"/>
          </a:solidFill>
          <a:ln/>
        </p:spPr>
      </p:sp>
      <p:sp>
        <p:nvSpPr>
          <p:cNvPr id="16" name="Text 14"/>
          <p:cNvSpPr/>
          <p:nvPr/>
        </p:nvSpPr>
        <p:spPr>
          <a:xfrm rot="1199999">
            <a:off x="11345649" y="4406172"/>
            <a:ext cx="228234" cy="300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2" b="1" spc="-189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052" dirty="0"/>
          </a:p>
        </p:txBody>
      </p:sp>
      <p:sp>
        <p:nvSpPr>
          <p:cNvPr id="17" name="Text 15"/>
          <p:cNvSpPr/>
          <p:nvPr/>
        </p:nvSpPr>
        <p:spPr>
          <a:xfrm>
            <a:off x="11555843" y="4253180"/>
            <a:ext cx="585688" cy="100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400" spc="-189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8410278" y="5382948"/>
            <a:ext cx="181004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· LIGHT BACKGROUND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155818" y="5701771"/>
            <a:ext cx="5049738" cy="1905000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20" name="Text 18"/>
          <p:cNvSpPr/>
          <p:nvPr/>
        </p:nvSpPr>
        <p:spPr>
          <a:xfrm>
            <a:off x="4359837" y="6172398"/>
            <a:ext cx="2016258" cy="1001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400" spc="-189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</a:t>
            </a:r>
            <a:endParaRPr lang="en-US" sz="5400" dirty="0"/>
          </a:p>
        </p:txBody>
      </p:sp>
      <p:sp>
        <p:nvSpPr>
          <p:cNvPr id="21" name="Shape 19"/>
          <p:cNvSpPr/>
          <p:nvPr/>
        </p:nvSpPr>
        <p:spPr>
          <a:xfrm rot="1199999">
            <a:off x="6262456" y="6299334"/>
            <a:ext cx="266700" cy="314325"/>
          </a:xfrm>
          <a:prstGeom prst="roundRect">
            <a:avLst>
              <a:gd name="adj" fmla="val 7817"/>
            </a:avLst>
          </a:prstGeom>
          <a:solidFill>
            <a:srgbClr val="111111"/>
          </a:solidFill>
          <a:ln/>
        </p:spPr>
      </p:sp>
      <p:sp>
        <p:nvSpPr>
          <p:cNvPr id="22" name="Text 20"/>
          <p:cNvSpPr/>
          <p:nvPr/>
        </p:nvSpPr>
        <p:spPr>
          <a:xfrm rot="1199999">
            <a:off x="6281689" y="6325395"/>
            <a:ext cx="228234" cy="300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2" b="1" spc="-189" kern="0" dirty="0">
                <a:solidFill>
                  <a:srgbClr val="FFDE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052" dirty="0"/>
          </a:p>
        </p:txBody>
      </p:sp>
      <p:sp>
        <p:nvSpPr>
          <p:cNvPr id="23" name="Text 21"/>
          <p:cNvSpPr/>
          <p:nvPr/>
        </p:nvSpPr>
        <p:spPr>
          <a:xfrm>
            <a:off x="6491883" y="6172398"/>
            <a:ext cx="585688" cy="1001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400" spc="-189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3346318" y="7302171"/>
            <a:ext cx="1676764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YELLOW BACKGROUND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219778" y="5701771"/>
            <a:ext cx="5049738" cy="1905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6" name="Shape 24"/>
          <p:cNvSpPr/>
          <p:nvPr/>
        </p:nvSpPr>
        <p:spPr>
          <a:xfrm>
            <a:off x="9563696" y="6273271"/>
            <a:ext cx="762000" cy="762000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27" name="Text 25"/>
          <p:cNvSpPr/>
          <p:nvPr/>
        </p:nvSpPr>
        <p:spPr>
          <a:xfrm rot="1199999">
            <a:off x="9806583" y="6444720"/>
            <a:ext cx="3524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3300" dirty="0"/>
          </a:p>
        </p:txBody>
      </p:sp>
      <p:sp>
        <p:nvSpPr>
          <p:cNvPr id="28" name="Shape 26"/>
          <p:cNvSpPr/>
          <p:nvPr/>
        </p:nvSpPr>
        <p:spPr>
          <a:xfrm>
            <a:off x="10477996" y="6387538"/>
            <a:ext cx="533301" cy="533301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29" name="Text 27"/>
          <p:cNvSpPr/>
          <p:nvPr/>
        </p:nvSpPr>
        <p:spPr>
          <a:xfrm rot="1199999">
            <a:off x="10644552" y="6501788"/>
            <a:ext cx="2762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11163598" y="6463771"/>
            <a:ext cx="381000" cy="381000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31" name="Text 29"/>
          <p:cNvSpPr/>
          <p:nvPr/>
        </p:nvSpPr>
        <p:spPr>
          <a:xfrm rot="1199999">
            <a:off x="11282578" y="6549416"/>
            <a:ext cx="21907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1696899" y="6540003"/>
            <a:ext cx="228534" cy="228534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33" name="Text 31"/>
          <p:cNvSpPr/>
          <p:nvPr/>
        </p:nvSpPr>
        <p:spPr>
          <a:xfrm rot="1199999">
            <a:off x="11768303" y="6587596"/>
            <a:ext cx="1619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410278" y="7302171"/>
            <a:ext cx="1410031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FFFFFF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 MARK · SCALABLE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145234" y="8074421"/>
            <a:ext cx="10134865" cy="3753942"/>
          </a:xfrm>
          <a:prstGeom prst="rect">
            <a:avLst/>
          </a:prstGeom>
          <a:solidFill>
            <a:srgbClr val="ECE6D5"/>
          </a:solidFill>
          <a:ln w="10583">
            <a:solidFill>
              <a:srgbClr val="E0DD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93886" y="9543685"/>
            <a:ext cx="1585317" cy="789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200" spc="-147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</a:t>
            </a:r>
            <a:endParaRPr lang="en-US" sz="4200" dirty="0"/>
          </a:p>
        </p:txBody>
      </p:sp>
      <p:sp>
        <p:nvSpPr>
          <p:cNvPr id="37" name="Shape 35"/>
          <p:cNvSpPr/>
          <p:nvPr/>
        </p:nvSpPr>
        <p:spPr>
          <a:xfrm rot="1199999">
            <a:off x="5472808" y="9651704"/>
            <a:ext cx="209550" cy="247650"/>
          </a:xfrm>
          <a:prstGeom prst="roundRect">
            <a:avLst>
              <a:gd name="adj" fmla="val 7738"/>
            </a:avLst>
          </a:prstGeom>
          <a:solidFill>
            <a:srgbClr val="FFDE0D"/>
          </a:solidFill>
          <a:ln/>
        </p:spPr>
      </p:sp>
      <p:sp>
        <p:nvSpPr>
          <p:cNvPr id="38" name="Text 36"/>
          <p:cNvSpPr/>
          <p:nvPr/>
        </p:nvSpPr>
        <p:spPr>
          <a:xfrm rot="1199999">
            <a:off x="5479300" y="9671973"/>
            <a:ext cx="196566" cy="245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96" b="1" spc="-147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596" dirty="0"/>
          </a:p>
        </p:txBody>
      </p:sp>
      <p:sp>
        <p:nvSpPr>
          <p:cNvPr id="39" name="Text 37"/>
          <p:cNvSpPr/>
          <p:nvPr/>
        </p:nvSpPr>
        <p:spPr>
          <a:xfrm>
            <a:off x="5652327" y="9543685"/>
            <a:ext cx="472579" cy="789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200" spc="-147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420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2886" y="9321438"/>
            <a:ext cx="2816821" cy="1259913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8441201" y="8542072"/>
            <a:ext cx="4502385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spc="99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WORDMARK ANATOMY</a:t>
            </a:r>
            <a:endParaRPr lang="en-US" sz="825" dirty="0"/>
          </a:p>
        </p:txBody>
      </p:sp>
      <p:sp>
        <p:nvSpPr>
          <p:cNvPr id="42" name="Shape 39"/>
          <p:cNvSpPr/>
          <p:nvPr/>
        </p:nvSpPr>
        <p:spPr>
          <a:xfrm>
            <a:off x="8441201" y="8919272"/>
            <a:ext cx="228534" cy="22853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3" name="Text 40"/>
          <p:cNvSpPr/>
          <p:nvPr/>
        </p:nvSpPr>
        <p:spPr>
          <a:xfrm>
            <a:off x="8822035" y="8900254"/>
            <a:ext cx="4110125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LETTERFORMS · STAG + D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8822035" y="9090587"/>
            <a:ext cx="411012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in Anton at 70pt. Uppercase. Tight tracking at −3.5em. The D has the same visual weight as the opening STAG to frame the mark symmetrically.</a:t>
            </a:r>
            <a:endParaRPr lang="en-US" sz="975" dirty="0"/>
          </a:p>
        </p:txBody>
      </p:sp>
      <p:sp>
        <p:nvSpPr>
          <p:cNvPr id="45" name="Shape 42"/>
          <p:cNvSpPr/>
          <p:nvPr/>
        </p:nvSpPr>
        <p:spPr>
          <a:xfrm>
            <a:off x="8441201" y="9856224"/>
            <a:ext cx="228534" cy="228534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46" name="Text 43"/>
          <p:cNvSpPr/>
          <p:nvPr/>
        </p:nvSpPr>
        <p:spPr>
          <a:xfrm rot="1199999">
            <a:off x="8512605" y="9903819"/>
            <a:ext cx="1619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8822035" y="9837211"/>
            <a:ext cx="4110125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E-STAMP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8822035" y="10027544"/>
            <a:ext cx="4110125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lowercase "e" in Anton, rotated 20°, set in a Signal Yellow pill. Size: 38% of cap height. Positioned at the top of the mark, reading as an apostrophe while encoding the full word STAGED.</a:t>
            </a:r>
            <a:endParaRPr lang="en-US" sz="975" dirty="0"/>
          </a:p>
        </p:txBody>
      </p:sp>
      <p:sp>
        <p:nvSpPr>
          <p:cNvPr id="49" name="Shape 46"/>
          <p:cNvSpPr/>
          <p:nvPr/>
        </p:nvSpPr>
        <p:spPr>
          <a:xfrm>
            <a:off x="8441201" y="10793181"/>
            <a:ext cx="228534" cy="228534"/>
          </a:xfrm>
          <a:prstGeom prst="rect">
            <a:avLst/>
          </a:prstGeom>
          <a:ln w="10583">
            <a:solidFill>
              <a:srgbClr val="E0DDD4"/>
            </a:solidFill>
            <a:prstDash val="dash"/>
          </a:ln>
        </p:spPr>
      </p:sp>
      <p:sp>
        <p:nvSpPr>
          <p:cNvPr id="50" name="Text 47"/>
          <p:cNvSpPr/>
          <p:nvPr/>
        </p:nvSpPr>
        <p:spPr>
          <a:xfrm>
            <a:off x="8822035" y="10774163"/>
            <a:ext cx="4110125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 SPACE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8822035" y="10964501"/>
            <a:ext cx="4110125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clear space on all sides equals the cap height of the "D". Never crowd the mark with other elements within this zone.</a:t>
            </a:r>
            <a:endParaRPr lang="en-US" sz="975" dirty="0"/>
          </a:p>
        </p:txBody>
      </p:sp>
      <p:sp>
        <p:nvSpPr>
          <p:cNvPr id="52" name="Text 49"/>
          <p:cNvSpPr/>
          <p:nvPr/>
        </p:nvSpPr>
        <p:spPr>
          <a:xfrm>
            <a:off x="3145234" y="12285434"/>
            <a:ext cx="10438911" cy="37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b="1" spc="33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S-MARK · FAVICON &amp; APP ICON</a:t>
            </a:r>
            <a:endParaRPr lang="en-US" sz="1650" dirty="0"/>
          </a:p>
        </p:txBody>
      </p:sp>
      <p:sp>
        <p:nvSpPr>
          <p:cNvPr id="53" name="Text 50"/>
          <p:cNvSpPr/>
          <p:nvPr/>
        </p:nvSpPr>
        <p:spPr>
          <a:xfrm>
            <a:off x="3145234" y="12696692"/>
            <a:ext cx="6278880" cy="1044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full wordmark is too small to read — favicons, app icons, profile pics, watermarks — we use the </a:t>
            </a:r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S-Mark </a:t>
            </a:r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an Anton uppercase "S" in Ink Black with the yellow e-stamp pinned to its top-right shoulder. Same DNA as the wordmark, distilled to a single glyph.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3145234" y="13931305"/>
            <a:ext cx="10134865" cy="3985783"/>
          </a:xfrm>
          <a:prstGeom prst="rect">
            <a:avLst/>
          </a:prstGeom>
          <a:solidFill>
            <a:srgbClr val="E0DDD4"/>
          </a:solidFill>
          <a:ln w="10583">
            <a:solidFill>
              <a:srgbClr val="E0DDD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155818" y="13941891"/>
            <a:ext cx="5891279" cy="3964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3"/>
          <p:cNvSpPr/>
          <p:nvPr/>
        </p:nvSpPr>
        <p:spPr>
          <a:xfrm>
            <a:off x="5275957" y="14950280"/>
            <a:ext cx="1727200" cy="1981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8000" dirty="0"/>
          </a:p>
        </p:txBody>
      </p:sp>
      <p:sp>
        <p:nvSpPr>
          <p:cNvPr id="57" name="Shape 54"/>
          <p:cNvSpPr/>
          <p:nvPr/>
        </p:nvSpPr>
        <p:spPr>
          <a:xfrm rot="1199999">
            <a:off x="6385604" y="15007168"/>
            <a:ext cx="752475" cy="762000"/>
          </a:xfrm>
          <a:prstGeom prst="roundRect">
            <a:avLst>
              <a:gd name="adj" fmla="val 12658"/>
            </a:avLst>
          </a:prstGeom>
          <a:solidFill>
            <a:srgbClr val="FFDE0D"/>
          </a:solidFill>
          <a:ln/>
        </p:spPr>
      </p:sp>
      <p:sp>
        <p:nvSpPr>
          <p:cNvPr id="58" name="Text 55"/>
          <p:cNvSpPr/>
          <p:nvPr/>
        </p:nvSpPr>
        <p:spPr>
          <a:xfrm rot="1199999">
            <a:off x="6557054" y="15083368"/>
            <a:ext cx="48577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4800" dirty="0"/>
          </a:p>
        </p:txBody>
      </p:sp>
      <p:sp>
        <p:nvSpPr>
          <p:cNvPr id="59" name="Shape 56"/>
          <p:cNvSpPr/>
          <p:nvPr/>
        </p:nvSpPr>
        <p:spPr>
          <a:xfrm>
            <a:off x="9061318" y="13941891"/>
            <a:ext cx="4208033" cy="3964616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60" name="Text 57"/>
          <p:cNvSpPr/>
          <p:nvPr/>
        </p:nvSpPr>
        <p:spPr>
          <a:xfrm>
            <a:off x="9442318" y="14322891"/>
            <a:ext cx="3549414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spc="99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S-MARK ANATOMY</a:t>
            </a:r>
            <a:endParaRPr lang="en-US" sz="825" dirty="0"/>
          </a:p>
        </p:txBody>
      </p:sp>
      <p:sp>
        <p:nvSpPr>
          <p:cNvPr id="61" name="Shape 58"/>
          <p:cNvSpPr/>
          <p:nvPr/>
        </p:nvSpPr>
        <p:spPr>
          <a:xfrm>
            <a:off x="9442318" y="14968474"/>
            <a:ext cx="3446033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62" name="Text 59"/>
          <p:cNvSpPr/>
          <p:nvPr/>
        </p:nvSpPr>
        <p:spPr>
          <a:xfrm>
            <a:off x="9442318" y="14740103"/>
            <a:ext cx="453562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12323135" y="14718936"/>
            <a:ext cx="641416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Anton "S"</a:t>
            </a:r>
            <a:endParaRPr lang="en-US" sz="825" dirty="0"/>
          </a:p>
        </p:txBody>
      </p:sp>
      <p:sp>
        <p:nvSpPr>
          <p:cNvPr id="64" name="Shape 61"/>
          <p:cNvSpPr/>
          <p:nvPr/>
        </p:nvSpPr>
        <p:spPr>
          <a:xfrm>
            <a:off x="9442318" y="15304658"/>
            <a:ext cx="3446033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65" name="Text 62"/>
          <p:cNvSpPr/>
          <p:nvPr/>
        </p:nvSpPr>
        <p:spPr>
          <a:xfrm>
            <a:off x="9442318" y="15076291"/>
            <a:ext cx="390723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12009108" y="15055125"/>
            <a:ext cx="955443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Ink Black #111</a:t>
            </a:r>
            <a:endParaRPr lang="en-US" sz="825" dirty="0"/>
          </a:p>
        </p:txBody>
      </p:sp>
      <p:sp>
        <p:nvSpPr>
          <p:cNvPr id="67" name="Shape 64"/>
          <p:cNvSpPr/>
          <p:nvPr/>
        </p:nvSpPr>
        <p:spPr>
          <a:xfrm>
            <a:off x="9442318" y="15640847"/>
            <a:ext cx="3446033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68" name="Text 65"/>
          <p:cNvSpPr/>
          <p:nvPr/>
        </p:nvSpPr>
        <p:spPr>
          <a:xfrm>
            <a:off x="9442318" y="15412476"/>
            <a:ext cx="390723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STAMP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11946268" y="15391309"/>
            <a:ext cx="1018282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Yellow pill · e</a:t>
            </a:r>
            <a:endParaRPr lang="en-US" sz="825" dirty="0"/>
          </a:p>
        </p:txBody>
      </p:sp>
      <p:sp>
        <p:nvSpPr>
          <p:cNvPr id="70" name="Shape 67"/>
          <p:cNvSpPr/>
          <p:nvPr/>
        </p:nvSpPr>
        <p:spPr>
          <a:xfrm>
            <a:off x="9442318" y="15977031"/>
            <a:ext cx="3446033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71" name="Text 68"/>
          <p:cNvSpPr/>
          <p:nvPr/>
        </p:nvSpPr>
        <p:spPr>
          <a:xfrm>
            <a:off x="9442318" y="15748664"/>
            <a:ext cx="705082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STAMP SIZE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12071781" y="15727498"/>
            <a:ext cx="892770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~28% of S-cap</a:t>
            </a:r>
            <a:endParaRPr lang="en-US" sz="825" dirty="0"/>
          </a:p>
        </p:txBody>
      </p:sp>
      <p:sp>
        <p:nvSpPr>
          <p:cNvPr id="73" name="Shape 70"/>
          <p:cNvSpPr/>
          <p:nvPr/>
        </p:nvSpPr>
        <p:spPr>
          <a:xfrm>
            <a:off x="9442318" y="16313215"/>
            <a:ext cx="3446033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74" name="Text 71"/>
          <p:cNvSpPr/>
          <p:nvPr/>
        </p:nvSpPr>
        <p:spPr>
          <a:xfrm>
            <a:off x="9442318" y="16084848"/>
            <a:ext cx="956601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STAMP POSITION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12009108" y="16063682"/>
            <a:ext cx="955443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Top-right of S</a:t>
            </a:r>
            <a:endParaRPr lang="en-US" sz="825" dirty="0"/>
          </a:p>
        </p:txBody>
      </p:sp>
      <p:sp>
        <p:nvSpPr>
          <p:cNvPr id="76" name="Shape 73"/>
          <p:cNvSpPr/>
          <p:nvPr/>
        </p:nvSpPr>
        <p:spPr>
          <a:xfrm>
            <a:off x="9442318" y="16649404"/>
            <a:ext cx="3446033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77" name="Text 74"/>
          <p:cNvSpPr/>
          <p:nvPr/>
        </p:nvSpPr>
        <p:spPr>
          <a:xfrm>
            <a:off x="9442318" y="16421037"/>
            <a:ext cx="579239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ROTATION</a:t>
            </a:r>
            <a:endParaRPr lang="en-US" sz="750" dirty="0"/>
          </a:p>
        </p:txBody>
      </p:sp>
      <p:sp>
        <p:nvSpPr>
          <p:cNvPr id="78" name="Text 75"/>
          <p:cNvSpPr/>
          <p:nvPr/>
        </p:nvSpPr>
        <p:spPr>
          <a:xfrm>
            <a:off x="12071781" y="16399866"/>
            <a:ext cx="892770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20° clockwise</a:t>
            </a:r>
            <a:endParaRPr lang="en-US" sz="825" dirty="0"/>
          </a:p>
        </p:txBody>
      </p:sp>
      <p:sp>
        <p:nvSpPr>
          <p:cNvPr id="79" name="Shape 76"/>
          <p:cNvSpPr/>
          <p:nvPr/>
        </p:nvSpPr>
        <p:spPr>
          <a:xfrm>
            <a:off x="9442318" y="16985588"/>
            <a:ext cx="3446033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80" name="Text 77"/>
          <p:cNvSpPr/>
          <p:nvPr/>
        </p:nvSpPr>
        <p:spPr>
          <a:xfrm>
            <a:off x="9442318" y="16757221"/>
            <a:ext cx="830759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STAMP RADIUS</a:t>
            </a:r>
            <a:endParaRPr lang="en-US" sz="750" dirty="0"/>
          </a:p>
        </p:txBody>
      </p:sp>
      <p:sp>
        <p:nvSpPr>
          <p:cNvPr id="81" name="Text 78"/>
          <p:cNvSpPr/>
          <p:nvPr/>
        </p:nvSpPr>
        <p:spPr>
          <a:xfrm>
            <a:off x="11946268" y="16736055"/>
            <a:ext cx="1018282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~16% of stamp h</a:t>
            </a:r>
            <a:endParaRPr lang="en-US" sz="825" dirty="0"/>
          </a:p>
        </p:txBody>
      </p:sp>
      <p:sp>
        <p:nvSpPr>
          <p:cNvPr id="82" name="Text 79"/>
          <p:cNvSpPr/>
          <p:nvPr/>
        </p:nvSpPr>
        <p:spPr>
          <a:xfrm>
            <a:off x="9442318" y="17148472"/>
            <a:ext cx="3549414" cy="415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stamp slightly overhangs the S to feel pinned-on, like a sticker. Never centre-align the stamp inside the bounding box.</a:t>
            </a:r>
            <a:endParaRPr lang="en-US" sz="900" dirty="0"/>
          </a:p>
        </p:txBody>
      </p:sp>
      <p:sp>
        <p:nvSpPr>
          <p:cNvPr id="83" name="Shape 80"/>
          <p:cNvSpPr/>
          <p:nvPr/>
        </p:nvSpPr>
        <p:spPr>
          <a:xfrm>
            <a:off x="3145234" y="18374155"/>
            <a:ext cx="10134865" cy="1560215"/>
          </a:xfrm>
          <a:prstGeom prst="rect">
            <a:avLst/>
          </a:prstGeom>
          <a:solidFill>
            <a:srgbClr val="E0DDD4"/>
          </a:solidFill>
          <a:ln w="10583">
            <a:solidFill>
              <a:srgbClr val="E0DDD4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155818" y="18384741"/>
            <a:ext cx="1673655" cy="1539048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85" name="Text 82"/>
          <p:cNvSpPr/>
          <p:nvPr/>
        </p:nvSpPr>
        <p:spPr>
          <a:xfrm>
            <a:off x="3662495" y="18424924"/>
            <a:ext cx="736501" cy="1329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7200" dirty="0"/>
          </a:p>
        </p:txBody>
      </p:sp>
      <p:sp>
        <p:nvSpPr>
          <p:cNvPr id="86" name="Shape 83"/>
          <p:cNvSpPr/>
          <p:nvPr/>
        </p:nvSpPr>
        <p:spPr>
          <a:xfrm rot="1199999">
            <a:off x="4111576" y="18708426"/>
            <a:ext cx="295275" cy="304800"/>
          </a:xfrm>
          <a:prstGeom prst="roundRect">
            <a:avLst>
              <a:gd name="adj" fmla="val 12903"/>
            </a:avLst>
          </a:prstGeom>
          <a:solidFill>
            <a:srgbClr val="FFDE0D"/>
          </a:solidFill>
          <a:ln/>
        </p:spPr>
      </p:sp>
      <p:sp>
        <p:nvSpPr>
          <p:cNvPr id="87" name="Text 84"/>
          <p:cNvSpPr/>
          <p:nvPr/>
        </p:nvSpPr>
        <p:spPr>
          <a:xfrm rot="1199999">
            <a:off x="4178251" y="18737001"/>
            <a:ext cx="2381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950" dirty="0"/>
          </a:p>
        </p:txBody>
      </p:sp>
      <p:sp>
        <p:nvSpPr>
          <p:cNvPr id="88" name="Text 85"/>
          <p:cNvSpPr/>
          <p:nvPr/>
        </p:nvSpPr>
        <p:spPr>
          <a:xfrm>
            <a:off x="3459096" y="19619186"/>
            <a:ext cx="114329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512PX · APP ICON</a:t>
            </a:r>
            <a:endParaRPr lang="en-US" sz="750" dirty="0"/>
          </a:p>
        </p:txBody>
      </p:sp>
      <p:sp>
        <p:nvSpPr>
          <p:cNvPr id="89" name="Shape 86"/>
          <p:cNvSpPr/>
          <p:nvPr/>
        </p:nvSpPr>
        <p:spPr>
          <a:xfrm>
            <a:off x="4843694" y="18384741"/>
            <a:ext cx="1673820" cy="1539048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90" name="Text 87"/>
          <p:cNvSpPr/>
          <p:nvPr/>
        </p:nvSpPr>
        <p:spPr>
          <a:xfrm>
            <a:off x="5460339" y="18509589"/>
            <a:ext cx="51656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4800" dirty="0"/>
          </a:p>
        </p:txBody>
      </p:sp>
      <p:sp>
        <p:nvSpPr>
          <p:cNvPr id="91" name="Shape 88"/>
          <p:cNvSpPr/>
          <p:nvPr/>
        </p:nvSpPr>
        <p:spPr>
          <a:xfrm rot="1199999">
            <a:off x="5757731" y="18698915"/>
            <a:ext cx="209550" cy="209550"/>
          </a:xfrm>
          <a:prstGeom prst="roundRect">
            <a:avLst>
              <a:gd name="adj" fmla="val 13636"/>
            </a:avLst>
          </a:prstGeom>
          <a:solidFill>
            <a:srgbClr val="FFDE0D"/>
          </a:solidFill>
          <a:ln/>
        </p:spPr>
      </p:sp>
      <p:sp>
        <p:nvSpPr>
          <p:cNvPr id="92" name="Text 89"/>
          <p:cNvSpPr/>
          <p:nvPr/>
        </p:nvSpPr>
        <p:spPr>
          <a:xfrm rot="1199999">
            <a:off x="5805356" y="18717965"/>
            <a:ext cx="1905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350" dirty="0"/>
          </a:p>
        </p:txBody>
      </p:sp>
      <p:sp>
        <p:nvSpPr>
          <p:cNvPr id="93" name="Text 90"/>
          <p:cNvSpPr/>
          <p:nvPr/>
        </p:nvSpPr>
        <p:spPr>
          <a:xfrm>
            <a:off x="5313826" y="19365188"/>
            <a:ext cx="809757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128PX · IOS</a:t>
            </a:r>
            <a:endParaRPr lang="en-US" sz="750" dirty="0"/>
          </a:p>
        </p:txBody>
      </p:sp>
      <p:sp>
        <p:nvSpPr>
          <p:cNvPr id="94" name="Shape 91"/>
          <p:cNvSpPr/>
          <p:nvPr/>
        </p:nvSpPr>
        <p:spPr>
          <a:xfrm>
            <a:off x="6531736" y="18384741"/>
            <a:ext cx="1673820" cy="1539048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95" name="Text 92"/>
          <p:cNvSpPr/>
          <p:nvPr/>
        </p:nvSpPr>
        <p:spPr>
          <a:xfrm>
            <a:off x="7203447" y="18551921"/>
            <a:ext cx="406433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3600" dirty="0"/>
          </a:p>
        </p:txBody>
      </p:sp>
      <p:sp>
        <p:nvSpPr>
          <p:cNvPr id="96" name="Shape 93"/>
          <p:cNvSpPr/>
          <p:nvPr/>
        </p:nvSpPr>
        <p:spPr>
          <a:xfrm rot="1199999">
            <a:off x="7420967" y="18698849"/>
            <a:ext cx="161925" cy="142875"/>
          </a:xfrm>
          <a:prstGeom prst="roundRect">
            <a:avLst>
              <a:gd name="adj" fmla="val 13333"/>
            </a:avLst>
          </a:prstGeom>
          <a:solidFill>
            <a:srgbClr val="FFDE0D"/>
          </a:solidFill>
          <a:ln/>
        </p:spPr>
      </p:sp>
      <p:sp>
        <p:nvSpPr>
          <p:cNvPr id="97" name="Text 94"/>
          <p:cNvSpPr/>
          <p:nvPr/>
        </p:nvSpPr>
        <p:spPr>
          <a:xfrm rot="1199999">
            <a:off x="7459067" y="18708374"/>
            <a:ext cx="1619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975" dirty="0"/>
          </a:p>
        </p:txBody>
      </p:sp>
      <p:sp>
        <p:nvSpPr>
          <p:cNvPr id="98" name="Text 95"/>
          <p:cNvSpPr/>
          <p:nvPr/>
        </p:nvSpPr>
        <p:spPr>
          <a:xfrm>
            <a:off x="6901822" y="19248772"/>
            <a:ext cx="100984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64PX · ANDROID</a:t>
            </a:r>
            <a:endParaRPr lang="en-US" sz="750" dirty="0"/>
          </a:p>
        </p:txBody>
      </p:sp>
      <p:sp>
        <p:nvSpPr>
          <p:cNvPr id="99" name="Shape 96"/>
          <p:cNvSpPr/>
          <p:nvPr/>
        </p:nvSpPr>
        <p:spPr>
          <a:xfrm>
            <a:off x="8219778" y="18384741"/>
            <a:ext cx="1673655" cy="1539048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100" name="Text 97"/>
          <p:cNvSpPr/>
          <p:nvPr/>
        </p:nvSpPr>
        <p:spPr>
          <a:xfrm>
            <a:off x="8946390" y="18594258"/>
            <a:ext cx="296466" cy="472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400" dirty="0"/>
          </a:p>
        </p:txBody>
      </p:sp>
      <p:sp>
        <p:nvSpPr>
          <p:cNvPr id="101" name="Shape 98"/>
          <p:cNvSpPr/>
          <p:nvPr/>
        </p:nvSpPr>
        <p:spPr>
          <a:xfrm rot="1199999">
            <a:off x="9090489" y="18689375"/>
            <a:ext cx="114300" cy="104775"/>
          </a:xfrm>
          <a:prstGeom prst="roundRect">
            <a:avLst>
              <a:gd name="adj" fmla="val 18182"/>
            </a:avLst>
          </a:prstGeom>
          <a:solidFill>
            <a:srgbClr val="FFDE0D"/>
          </a:solidFill>
          <a:ln/>
        </p:spPr>
      </p:sp>
      <p:sp>
        <p:nvSpPr>
          <p:cNvPr id="102" name="Text 99"/>
          <p:cNvSpPr/>
          <p:nvPr/>
        </p:nvSpPr>
        <p:spPr>
          <a:xfrm rot="1199999">
            <a:off x="9119064" y="18698900"/>
            <a:ext cx="133350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675" dirty="0"/>
          </a:p>
        </p:txBody>
      </p:sp>
      <p:sp>
        <p:nvSpPr>
          <p:cNvPr id="103" name="Text 100"/>
          <p:cNvSpPr/>
          <p:nvPr/>
        </p:nvSpPr>
        <p:spPr>
          <a:xfrm>
            <a:off x="8589698" y="19121770"/>
            <a:ext cx="100984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32PX · FAVICON</a:t>
            </a:r>
            <a:endParaRPr lang="en-US" sz="750" dirty="0"/>
          </a:p>
        </p:txBody>
      </p:sp>
      <p:sp>
        <p:nvSpPr>
          <p:cNvPr id="104" name="Shape 101"/>
          <p:cNvSpPr/>
          <p:nvPr/>
        </p:nvSpPr>
        <p:spPr>
          <a:xfrm>
            <a:off x="9907655" y="18384741"/>
            <a:ext cx="1673820" cy="1539048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105" name="Text 102"/>
          <p:cNvSpPr/>
          <p:nvPr/>
        </p:nvSpPr>
        <p:spPr>
          <a:xfrm>
            <a:off x="10675773" y="18647171"/>
            <a:ext cx="21378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500" dirty="0"/>
          </a:p>
        </p:txBody>
      </p:sp>
      <p:sp>
        <p:nvSpPr>
          <p:cNvPr id="106" name="Shape 103"/>
          <p:cNvSpPr/>
          <p:nvPr/>
        </p:nvSpPr>
        <p:spPr>
          <a:xfrm rot="1199999">
            <a:off x="10765582" y="18689538"/>
            <a:ext cx="76200" cy="57150"/>
          </a:xfrm>
          <a:prstGeom prst="roundRect">
            <a:avLst>
              <a:gd name="adj" fmla="val 16667"/>
            </a:avLst>
          </a:prstGeom>
          <a:solidFill>
            <a:srgbClr val="FFDE0D"/>
          </a:solidFill>
          <a:ln/>
        </p:spPr>
      </p:sp>
      <p:sp>
        <p:nvSpPr>
          <p:cNvPr id="107" name="Text 104"/>
          <p:cNvSpPr/>
          <p:nvPr/>
        </p:nvSpPr>
        <p:spPr>
          <a:xfrm rot="1199999">
            <a:off x="10784632" y="18689538"/>
            <a:ext cx="114300" cy="95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450" dirty="0"/>
          </a:p>
        </p:txBody>
      </p:sp>
      <p:sp>
        <p:nvSpPr>
          <p:cNvPr id="108" name="Text 105"/>
          <p:cNvSpPr/>
          <p:nvPr/>
        </p:nvSpPr>
        <p:spPr>
          <a:xfrm>
            <a:off x="10411024" y="19047686"/>
            <a:ext cx="743115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 · TAB</a:t>
            </a:r>
            <a:endParaRPr lang="en-US" sz="750" dirty="0"/>
          </a:p>
        </p:txBody>
      </p:sp>
      <p:sp>
        <p:nvSpPr>
          <p:cNvPr id="109" name="Shape 106"/>
          <p:cNvSpPr/>
          <p:nvPr/>
        </p:nvSpPr>
        <p:spPr>
          <a:xfrm>
            <a:off x="11595696" y="18384741"/>
            <a:ext cx="1673820" cy="153904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0" name="Text 107"/>
          <p:cNvSpPr/>
          <p:nvPr/>
        </p:nvSpPr>
        <p:spPr>
          <a:xfrm>
            <a:off x="12212341" y="18509589"/>
            <a:ext cx="51656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b="1" dirty="0">
                <a:solidFill>
                  <a:srgbClr val="FFDE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4800" dirty="0"/>
          </a:p>
        </p:txBody>
      </p:sp>
      <p:sp>
        <p:nvSpPr>
          <p:cNvPr id="111" name="Shape 108"/>
          <p:cNvSpPr/>
          <p:nvPr/>
        </p:nvSpPr>
        <p:spPr>
          <a:xfrm rot="1199999">
            <a:off x="12509733" y="18698915"/>
            <a:ext cx="209550" cy="20955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</p:sp>
      <p:sp>
        <p:nvSpPr>
          <p:cNvPr id="112" name="Text 109"/>
          <p:cNvSpPr/>
          <p:nvPr/>
        </p:nvSpPr>
        <p:spPr>
          <a:xfrm rot="1199999">
            <a:off x="12557358" y="18717965"/>
            <a:ext cx="1905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350" dirty="0"/>
          </a:p>
        </p:txBody>
      </p:sp>
      <p:sp>
        <p:nvSpPr>
          <p:cNvPr id="113" name="Text 110"/>
          <p:cNvSpPr/>
          <p:nvPr/>
        </p:nvSpPr>
        <p:spPr>
          <a:xfrm>
            <a:off x="12032424" y="19365188"/>
            <a:ext cx="876565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DARK VARIANT</a:t>
            </a:r>
            <a:endParaRPr lang="en-US" sz="750" dirty="0"/>
          </a:p>
        </p:txBody>
      </p:sp>
      <p:sp>
        <p:nvSpPr>
          <p:cNvPr id="114" name="Text 111"/>
          <p:cNvSpPr/>
          <p:nvPr/>
        </p:nvSpPr>
        <p:spPr>
          <a:xfrm>
            <a:off x="3145234" y="20391437"/>
            <a:ext cx="10438911" cy="37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b="1" spc="33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 DON'TS</a:t>
            </a:r>
            <a:endParaRPr lang="en-US" sz="1650" dirty="0"/>
          </a:p>
        </p:txBody>
      </p:sp>
      <p:sp>
        <p:nvSpPr>
          <p:cNvPr id="115" name="Shape 112"/>
          <p:cNvSpPr/>
          <p:nvPr/>
        </p:nvSpPr>
        <p:spPr>
          <a:xfrm>
            <a:off x="3145234" y="20574000"/>
            <a:ext cx="10134865" cy="1407749"/>
          </a:xfrm>
          <a:prstGeom prst="rect">
            <a:avLst/>
          </a:prstGeom>
          <a:solidFill>
            <a:srgbClr val="E0DDD4"/>
          </a:solidFill>
          <a:ln w="10583">
            <a:solidFill>
              <a:srgbClr val="E0DDD4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3155818" y="20574000"/>
            <a:ext cx="2517676" cy="1386582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117" name="Text 114"/>
          <p:cNvSpPr/>
          <p:nvPr/>
        </p:nvSpPr>
        <p:spPr>
          <a:xfrm>
            <a:off x="3754438" y="20574000"/>
            <a:ext cx="1046063" cy="524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700" spc="-94" kern="0" dirty="0">
                <a:solidFill>
                  <a:srgbClr val="111111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</a:t>
            </a:r>
            <a:endParaRPr lang="en-US" sz="2700" dirty="0"/>
          </a:p>
        </p:txBody>
      </p:sp>
      <p:sp>
        <p:nvSpPr>
          <p:cNvPr id="118" name="Shape 115"/>
          <p:cNvSpPr/>
          <p:nvPr/>
        </p:nvSpPr>
        <p:spPr>
          <a:xfrm rot="1199999">
            <a:off x="4705582" y="20574000"/>
            <a:ext cx="133350" cy="152400"/>
          </a:xfrm>
          <a:prstGeom prst="roundRect">
            <a:avLst>
              <a:gd name="adj" fmla="val 7817"/>
            </a:avLst>
          </a:prstGeom>
          <a:solidFill>
            <a:srgbClr val="FFDE0D"/>
          </a:solidFill>
          <a:ln/>
        </p:spPr>
      </p:sp>
      <p:sp>
        <p:nvSpPr>
          <p:cNvPr id="119" name="Text 116"/>
          <p:cNvSpPr/>
          <p:nvPr/>
        </p:nvSpPr>
        <p:spPr>
          <a:xfrm rot="1199999">
            <a:off x="4696148" y="20587030"/>
            <a:ext cx="152217" cy="16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6" b="1" spc="-94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026" dirty="0"/>
          </a:p>
        </p:txBody>
      </p:sp>
      <p:sp>
        <p:nvSpPr>
          <p:cNvPr id="120" name="Text 117"/>
          <p:cNvSpPr/>
          <p:nvPr/>
        </p:nvSpPr>
        <p:spPr>
          <a:xfrm>
            <a:off x="4820212" y="20574000"/>
            <a:ext cx="330861" cy="524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700" spc="-94" kern="0" dirty="0">
                <a:solidFill>
                  <a:srgbClr val="111111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700" dirty="0"/>
          </a:p>
        </p:txBody>
      </p:sp>
      <p:sp>
        <p:nvSpPr>
          <p:cNvPr id="121" name="Text 118"/>
          <p:cNvSpPr/>
          <p:nvPr/>
        </p:nvSpPr>
        <p:spPr>
          <a:xfrm>
            <a:off x="3346252" y="20574000"/>
            <a:ext cx="2136808" cy="342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USE LOW OPACITY / GHOSTED</a:t>
            </a:r>
            <a:endParaRPr lang="en-US" sz="750" dirty="0"/>
          </a:p>
        </p:txBody>
      </p:sp>
      <p:sp>
        <p:nvSpPr>
          <p:cNvPr id="122" name="Shape 119"/>
          <p:cNvSpPr/>
          <p:nvPr/>
        </p:nvSpPr>
        <p:spPr>
          <a:xfrm>
            <a:off x="5687715" y="20574000"/>
            <a:ext cx="2517841" cy="1386582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123" name="Text 120"/>
          <p:cNvSpPr/>
          <p:nvPr/>
        </p:nvSpPr>
        <p:spPr>
          <a:xfrm>
            <a:off x="6286335" y="20574000"/>
            <a:ext cx="1046063" cy="524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700" spc="-94" kern="0" dirty="0">
                <a:solidFill>
                  <a:srgbClr val="1CAE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</a:t>
            </a:r>
            <a:endParaRPr lang="en-US" sz="2700" dirty="0"/>
          </a:p>
        </p:txBody>
      </p:sp>
      <p:sp>
        <p:nvSpPr>
          <p:cNvPr id="124" name="Shape 121"/>
          <p:cNvSpPr/>
          <p:nvPr/>
        </p:nvSpPr>
        <p:spPr>
          <a:xfrm rot="1199999">
            <a:off x="7237479" y="20574000"/>
            <a:ext cx="133350" cy="152400"/>
          </a:xfrm>
          <a:prstGeom prst="roundRect">
            <a:avLst>
              <a:gd name="adj" fmla="val 7817"/>
            </a:avLst>
          </a:prstGeom>
          <a:solidFill>
            <a:srgbClr val="1CAEE5"/>
          </a:solidFill>
          <a:ln/>
        </p:spPr>
      </p:sp>
      <p:sp>
        <p:nvSpPr>
          <p:cNvPr id="125" name="Text 122"/>
          <p:cNvSpPr/>
          <p:nvPr/>
        </p:nvSpPr>
        <p:spPr>
          <a:xfrm rot="1199999">
            <a:off x="7228046" y="20587030"/>
            <a:ext cx="152217" cy="16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6" b="1" spc="-94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026" dirty="0"/>
          </a:p>
        </p:txBody>
      </p:sp>
      <p:sp>
        <p:nvSpPr>
          <p:cNvPr id="126" name="Text 123"/>
          <p:cNvSpPr/>
          <p:nvPr/>
        </p:nvSpPr>
        <p:spPr>
          <a:xfrm>
            <a:off x="7352110" y="20574000"/>
            <a:ext cx="330861" cy="524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700" spc="-94" kern="0" dirty="0">
                <a:solidFill>
                  <a:srgbClr val="1CAE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700" dirty="0"/>
          </a:p>
        </p:txBody>
      </p:sp>
      <p:sp>
        <p:nvSpPr>
          <p:cNvPr id="127" name="Text 124"/>
          <p:cNvSpPr/>
          <p:nvPr/>
        </p:nvSpPr>
        <p:spPr>
          <a:xfrm>
            <a:off x="6098745" y="20574000"/>
            <a:ext cx="1695781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RECOLOUR THE STAMP</a:t>
            </a:r>
            <a:endParaRPr lang="en-US" sz="750" dirty="0"/>
          </a:p>
        </p:txBody>
      </p:sp>
      <p:sp>
        <p:nvSpPr>
          <p:cNvPr id="128" name="Shape 125"/>
          <p:cNvSpPr/>
          <p:nvPr/>
        </p:nvSpPr>
        <p:spPr>
          <a:xfrm>
            <a:off x="8219778" y="20574000"/>
            <a:ext cx="2517676" cy="1386582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129" name="Text 126"/>
          <p:cNvSpPr/>
          <p:nvPr/>
        </p:nvSpPr>
        <p:spPr>
          <a:xfrm>
            <a:off x="8616818" y="20574000"/>
            <a:ext cx="1368358" cy="524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700" spc="540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</a:t>
            </a:r>
            <a:endParaRPr lang="en-US" sz="2700" dirty="0"/>
          </a:p>
        </p:txBody>
      </p:sp>
      <p:sp>
        <p:nvSpPr>
          <p:cNvPr id="130" name="Shape 127"/>
          <p:cNvSpPr/>
          <p:nvPr/>
        </p:nvSpPr>
        <p:spPr>
          <a:xfrm rot="1199999">
            <a:off x="9852158" y="20574000"/>
            <a:ext cx="209550" cy="152400"/>
          </a:xfrm>
          <a:prstGeom prst="roundRect">
            <a:avLst>
              <a:gd name="adj" fmla="val 6840"/>
            </a:avLst>
          </a:prstGeom>
          <a:solidFill>
            <a:srgbClr val="FFDE0D"/>
          </a:solidFill>
          <a:ln/>
        </p:spPr>
      </p:sp>
      <p:sp>
        <p:nvSpPr>
          <p:cNvPr id="131" name="Text 128"/>
          <p:cNvSpPr/>
          <p:nvPr/>
        </p:nvSpPr>
        <p:spPr>
          <a:xfrm rot="1199999">
            <a:off x="9842724" y="20587030"/>
            <a:ext cx="228417" cy="16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6" b="1" spc="540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026" dirty="0"/>
          </a:p>
        </p:txBody>
      </p:sp>
      <p:sp>
        <p:nvSpPr>
          <p:cNvPr id="132" name="Text 129"/>
          <p:cNvSpPr/>
          <p:nvPr/>
        </p:nvSpPr>
        <p:spPr>
          <a:xfrm>
            <a:off x="10004888" y="20574000"/>
            <a:ext cx="411560" cy="524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700" spc="540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700" dirty="0"/>
          </a:p>
        </p:txBody>
      </p:sp>
      <p:sp>
        <p:nvSpPr>
          <p:cNvPr id="133" name="Text 130"/>
          <p:cNvSpPr/>
          <p:nvPr/>
        </p:nvSpPr>
        <p:spPr>
          <a:xfrm>
            <a:off x="8598231" y="20574000"/>
            <a:ext cx="1760604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STRETCH OR RE-TRACK</a:t>
            </a:r>
            <a:endParaRPr lang="en-US" sz="750" dirty="0"/>
          </a:p>
        </p:txBody>
      </p:sp>
      <p:sp>
        <p:nvSpPr>
          <p:cNvPr id="134" name="Shape 131"/>
          <p:cNvSpPr/>
          <p:nvPr/>
        </p:nvSpPr>
        <p:spPr>
          <a:xfrm>
            <a:off x="10751675" y="20574000"/>
            <a:ext cx="2517841" cy="1386582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135" name="Text 132"/>
          <p:cNvSpPr/>
          <p:nvPr/>
        </p:nvSpPr>
        <p:spPr>
          <a:xfrm>
            <a:off x="11449348" y="20574000"/>
            <a:ext cx="1198529" cy="58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STAGD</a:t>
            </a:r>
            <a:endParaRPr lang="en-US" sz="2700" dirty="0"/>
          </a:p>
        </p:txBody>
      </p:sp>
      <p:sp>
        <p:nvSpPr>
          <p:cNvPr id="136" name="Text 133"/>
          <p:cNvSpPr/>
          <p:nvPr/>
        </p:nvSpPr>
        <p:spPr>
          <a:xfrm>
            <a:off x="11000648" y="20574000"/>
            <a:ext cx="2019730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SET IN ANOTHER TYPEFACE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297463"/>
            <a:ext cx="16425335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3" name="Text 1"/>
          <p:cNvSpPr/>
          <p:nvPr/>
        </p:nvSpPr>
        <p:spPr>
          <a:xfrm>
            <a:off x="3145234" y="914298"/>
            <a:ext cx="10438911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spc="116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COLOR SYSTEM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145234" y="1462980"/>
            <a:ext cx="10438911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b="1" spc="-108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145234" y="2384887"/>
            <a:ext cx="6278880" cy="1044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Stagd palette is rooted in two foundations — Signal Yellow (#FFDE0D) and Ink Black (#111111) — which together create maximum contrast and recognisability across any surface. Accent colors are drawn from the visual language of event posters: saturated, expressive, never pastel.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45234" y="3771965"/>
            <a:ext cx="10134865" cy="2116667"/>
          </a:xfrm>
          <a:prstGeom prst="rect">
            <a:avLst/>
          </a:prstGeom>
          <a:solidFill>
            <a:srgbClr val="E0DDD4"/>
          </a:solidFill>
          <a:ln w="10583">
            <a:solidFill>
              <a:srgbClr val="E0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55818" y="3782551"/>
            <a:ext cx="5042628" cy="2095500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8" name="Shape 6"/>
          <p:cNvSpPr/>
          <p:nvPr/>
        </p:nvSpPr>
        <p:spPr>
          <a:xfrm>
            <a:off x="7073471" y="3934848"/>
            <a:ext cx="972674" cy="193807"/>
          </a:xfrm>
          <a:prstGeom prst="roundRect">
            <a:avLst>
              <a:gd name="adj" fmla="val 9829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140146" y="3963423"/>
            <a:ext cx="915524" cy="174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spc="68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ACCENT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384352" y="4895617"/>
            <a:ext cx="4723127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SIGNAL YELLOW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4352" y="5238420"/>
            <a:ext cx="4723127" cy="220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4" kern="0" dirty="0">
                <a:solidFill>
                  <a:srgbClr val="111111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#FFDE0D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4352" y="5421148"/>
            <a:ext cx="4723127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111111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255·222·13 · CMYK 0·13·95·0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212667" y="3782551"/>
            <a:ext cx="2521314" cy="2095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Shape 12"/>
          <p:cNvSpPr/>
          <p:nvPr/>
        </p:nvSpPr>
        <p:spPr>
          <a:xfrm>
            <a:off x="9848785" y="3934848"/>
            <a:ext cx="732896" cy="193807"/>
          </a:xfrm>
          <a:prstGeom prst="roundRect">
            <a:avLst>
              <a:gd name="adj" fmla="val 982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915460" y="3963423"/>
            <a:ext cx="675746" cy="174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spc="68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8441201" y="4895617"/>
            <a:ext cx="2140446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INK BLACK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41201" y="5238420"/>
            <a:ext cx="2140446" cy="220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4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#111111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41201" y="5421148"/>
            <a:ext cx="2140446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17·17·17 · CMYK 0·0·0·93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0748202" y="3782551"/>
            <a:ext cx="2521314" cy="2095500"/>
          </a:xfrm>
          <a:prstGeom prst="rect">
            <a:avLst/>
          </a:prstGeom>
          <a:solidFill>
            <a:srgbClr val="FFFFFF"/>
          </a:solidFill>
          <a:ln w="10583">
            <a:solidFill>
              <a:srgbClr val="E0DD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73737" y="3945434"/>
            <a:ext cx="732896" cy="193807"/>
          </a:xfrm>
          <a:prstGeom prst="roundRect">
            <a:avLst>
              <a:gd name="adj" fmla="val 9829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440412" y="3974009"/>
            <a:ext cx="675746" cy="174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spc="68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10987320" y="4885037"/>
            <a:ext cx="2119280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PURE WHITE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87320" y="5227834"/>
            <a:ext cx="2119280" cy="220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4" kern="0" dirty="0">
                <a:solidFill>
                  <a:srgbClr val="111111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87320" y="5410563"/>
            <a:ext cx="2119280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111111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255·255·255 · CMYK 0·0·0·0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145234" y="5902854"/>
            <a:ext cx="10134865" cy="1689365"/>
          </a:xfrm>
          <a:prstGeom prst="rect">
            <a:avLst/>
          </a:prstGeom>
          <a:solidFill>
            <a:srgbClr val="E0DDD4"/>
          </a:solidFill>
          <a:ln w="10583">
            <a:solidFill>
              <a:srgbClr val="E0DD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55818" y="5913439"/>
            <a:ext cx="2011330" cy="166819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3384352" y="6599202"/>
            <a:ext cx="1630462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POSTER RED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384352" y="6942004"/>
            <a:ext cx="1630462" cy="220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4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#E63946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4352" y="7124733"/>
            <a:ext cx="1630462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CONCERT ENERGY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181369" y="5913439"/>
            <a:ext cx="2011330" cy="1668198"/>
          </a:xfrm>
          <a:prstGeom prst="rect">
            <a:avLst/>
          </a:prstGeom>
          <a:solidFill>
            <a:srgbClr val="1CAEE5"/>
          </a:solidFill>
          <a:ln/>
        </p:spPr>
      </p:sp>
      <p:sp>
        <p:nvSpPr>
          <p:cNvPr id="31" name="Text 29"/>
          <p:cNvSpPr/>
          <p:nvPr/>
        </p:nvSpPr>
        <p:spPr>
          <a:xfrm>
            <a:off x="5409902" y="6599202"/>
            <a:ext cx="1630462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SKY CYAN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09902" y="6942004"/>
            <a:ext cx="1630462" cy="220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4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#1CAEE5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09902" y="7124733"/>
            <a:ext cx="1630462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/ OPEN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206919" y="5913439"/>
            <a:ext cx="2011330" cy="1668198"/>
          </a:xfrm>
          <a:prstGeom prst="rect">
            <a:avLst/>
          </a:prstGeom>
          <a:solidFill>
            <a:srgbClr val="049839"/>
          </a:solidFill>
          <a:ln/>
        </p:spPr>
      </p:sp>
      <p:sp>
        <p:nvSpPr>
          <p:cNvPr id="35" name="Text 33"/>
          <p:cNvSpPr/>
          <p:nvPr/>
        </p:nvSpPr>
        <p:spPr>
          <a:xfrm>
            <a:off x="7435454" y="6294439"/>
            <a:ext cx="1630462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KARACHI GREEN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435454" y="6942004"/>
            <a:ext cx="1630462" cy="220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4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#049839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35454" y="7124733"/>
            <a:ext cx="1630462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COMMUNITY / MUSIC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232471" y="5913439"/>
            <a:ext cx="2011330" cy="1668198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9" name="Text 37"/>
          <p:cNvSpPr/>
          <p:nvPr/>
        </p:nvSpPr>
        <p:spPr>
          <a:xfrm>
            <a:off x="9461004" y="6294439"/>
            <a:ext cx="1630462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ORANGE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461004" y="6942004"/>
            <a:ext cx="1630462" cy="220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4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#FF5A1F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461004" y="7124733"/>
            <a:ext cx="1630462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MARKETS / CRAFTS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1258021" y="5913439"/>
            <a:ext cx="2011495" cy="1668198"/>
          </a:xfrm>
          <a:prstGeom prst="rect">
            <a:avLst/>
          </a:prstGeom>
          <a:solidFill>
            <a:srgbClr val="D6F23B"/>
          </a:solidFill>
          <a:ln/>
        </p:spPr>
      </p:sp>
      <p:sp>
        <p:nvSpPr>
          <p:cNvPr id="43" name="Text 41"/>
          <p:cNvSpPr/>
          <p:nvPr/>
        </p:nvSpPr>
        <p:spPr>
          <a:xfrm>
            <a:off x="11486555" y="6599202"/>
            <a:ext cx="1630627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CIVIC LIME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1486555" y="6942004"/>
            <a:ext cx="1630627" cy="220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4" kern="0" dirty="0">
                <a:solidFill>
                  <a:srgbClr val="111111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#D6F23B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86555" y="7124733"/>
            <a:ext cx="1630627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111111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OUTDOOR / DAYTIME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145234" y="7606438"/>
            <a:ext cx="10134865" cy="1545167"/>
          </a:xfrm>
          <a:prstGeom prst="rect">
            <a:avLst/>
          </a:prstGeom>
          <a:solidFill>
            <a:srgbClr val="E0DDD4"/>
          </a:solidFill>
          <a:ln w="10583">
            <a:solidFill>
              <a:srgbClr val="E0DD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55818" y="7617023"/>
            <a:ext cx="2517676" cy="1524000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48" name="Text 46"/>
          <p:cNvSpPr/>
          <p:nvPr/>
        </p:nvSpPr>
        <p:spPr>
          <a:xfrm>
            <a:off x="3384352" y="8158590"/>
            <a:ext cx="213680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CREAM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3384352" y="8501393"/>
            <a:ext cx="2136808" cy="220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4" kern="0" dirty="0">
                <a:solidFill>
                  <a:srgbClr val="111111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#F4F1E6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384352" y="8684121"/>
            <a:ext cx="213680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111111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BACKGROUND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687715" y="7617023"/>
            <a:ext cx="2517841" cy="1524000"/>
          </a:xfrm>
          <a:prstGeom prst="rect">
            <a:avLst/>
          </a:prstGeom>
          <a:solidFill>
            <a:srgbClr val="ECE6D5"/>
          </a:solidFill>
          <a:ln/>
        </p:spPr>
      </p:sp>
      <p:sp>
        <p:nvSpPr>
          <p:cNvPr id="52" name="Text 50"/>
          <p:cNvSpPr/>
          <p:nvPr/>
        </p:nvSpPr>
        <p:spPr>
          <a:xfrm>
            <a:off x="5916249" y="8158590"/>
            <a:ext cx="2136973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PAPER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5916249" y="8501393"/>
            <a:ext cx="2136973" cy="220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4" kern="0" dirty="0">
                <a:solidFill>
                  <a:srgbClr val="111111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#ECE6D5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916249" y="8684121"/>
            <a:ext cx="2136973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111111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BACKGROUND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219778" y="7617023"/>
            <a:ext cx="2517676" cy="1524000"/>
          </a:xfrm>
          <a:prstGeom prst="rect">
            <a:avLst/>
          </a:prstGeom>
          <a:solidFill>
            <a:srgbClr val="E8E4D2"/>
          </a:solidFill>
          <a:ln w="10583">
            <a:solidFill>
              <a:srgbClr val="E0DD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58895" y="8148010"/>
            <a:ext cx="2115642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NEWSPRINT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8458895" y="8490807"/>
            <a:ext cx="2115642" cy="220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4" kern="0" dirty="0">
                <a:solidFill>
                  <a:srgbClr val="111111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#E8E4D2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458895" y="8673536"/>
            <a:ext cx="2115642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111111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SECONDARY SURFACE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0751675" y="7617023"/>
            <a:ext cx="2517841" cy="15240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0" name="Text 58"/>
          <p:cNvSpPr/>
          <p:nvPr/>
        </p:nvSpPr>
        <p:spPr>
          <a:xfrm>
            <a:off x="10980209" y="8158590"/>
            <a:ext cx="2136973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MID GREY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10980209" y="8501393"/>
            <a:ext cx="2136973" cy="220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54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#666666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980209" y="8684121"/>
            <a:ext cx="2136973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/ METADATA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145234" y="9608674"/>
            <a:ext cx="10134865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64" name="Text 62"/>
          <p:cNvSpPr/>
          <p:nvPr/>
        </p:nvSpPr>
        <p:spPr>
          <a:xfrm>
            <a:off x="3145234" y="10000259"/>
            <a:ext cx="10438911" cy="37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b="1" spc="33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 ROLES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3145234" y="10563983"/>
            <a:ext cx="10134865" cy="1819176"/>
          </a:xfrm>
          <a:prstGeom prst="rect">
            <a:avLst/>
          </a:prstGeom>
          <a:solidFill>
            <a:srgbClr val="E0DDD4"/>
          </a:solidFill>
          <a:ln w="10583">
            <a:solidFill>
              <a:srgbClr val="E0DDD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155818" y="10574568"/>
            <a:ext cx="3361697" cy="1798009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67" name="Text 65"/>
          <p:cNvSpPr/>
          <p:nvPr/>
        </p:nvSpPr>
        <p:spPr>
          <a:xfrm>
            <a:off x="3384352" y="10841138"/>
            <a:ext cx="2991768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spc="99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YELLOW</a:t>
            </a:r>
            <a:endParaRPr lang="en-US" sz="825" dirty="0"/>
          </a:p>
        </p:txBody>
      </p:sp>
      <p:sp>
        <p:nvSpPr>
          <p:cNvPr id="68" name="Text 66"/>
          <p:cNvSpPr/>
          <p:nvPr/>
        </p:nvSpPr>
        <p:spPr>
          <a:xfrm>
            <a:off x="3384352" y="11084882"/>
            <a:ext cx="2991768" cy="855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the e-stamp, price tags, active states, and key interactive elements. The brand's recognition color. Never use it as body text or background for long reading.</a:t>
            </a:r>
            <a:endParaRPr lang="en-US" sz="975" dirty="0"/>
          </a:p>
        </p:txBody>
      </p:sp>
      <p:sp>
        <p:nvSpPr>
          <p:cNvPr id="69" name="Shape 67"/>
          <p:cNvSpPr/>
          <p:nvPr/>
        </p:nvSpPr>
        <p:spPr>
          <a:xfrm>
            <a:off x="6531736" y="10574568"/>
            <a:ext cx="3361697" cy="1798009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70" name="Text 68"/>
          <p:cNvSpPr/>
          <p:nvPr/>
        </p:nvSpPr>
        <p:spPr>
          <a:xfrm>
            <a:off x="6760270" y="10841138"/>
            <a:ext cx="2991768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spc="99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 COLORS</a:t>
            </a:r>
            <a:endParaRPr lang="en-US" sz="825" dirty="0"/>
          </a:p>
        </p:txBody>
      </p:sp>
      <p:sp>
        <p:nvSpPr>
          <p:cNvPr id="71" name="Text 69"/>
          <p:cNvSpPr/>
          <p:nvPr/>
        </p:nvSpPr>
        <p:spPr>
          <a:xfrm>
            <a:off x="6760270" y="11084882"/>
            <a:ext cx="2991768" cy="1059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event category may carry an accent color — Poster Red for concerts, Sky Cyan for workshops, Karachi Green for music. Use one accent per card; never mix more than two accents in a single composition.</a:t>
            </a:r>
            <a:endParaRPr lang="en-US" sz="975" dirty="0"/>
          </a:p>
        </p:txBody>
      </p:sp>
      <p:sp>
        <p:nvSpPr>
          <p:cNvPr id="72" name="Shape 70"/>
          <p:cNvSpPr/>
          <p:nvPr/>
        </p:nvSpPr>
        <p:spPr>
          <a:xfrm>
            <a:off x="9907655" y="10574568"/>
            <a:ext cx="3361862" cy="1798009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73" name="Text 71"/>
          <p:cNvSpPr/>
          <p:nvPr/>
        </p:nvSpPr>
        <p:spPr>
          <a:xfrm>
            <a:off x="10136188" y="10841138"/>
            <a:ext cx="2991938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spc="99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NEUTRALS</a:t>
            </a:r>
            <a:endParaRPr lang="en-US" sz="825" dirty="0"/>
          </a:p>
        </p:txBody>
      </p:sp>
      <p:sp>
        <p:nvSpPr>
          <p:cNvPr id="74" name="Text 72"/>
          <p:cNvSpPr/>
          <p:nvPr/>
        </p:nvSpPr>
        <p:spPr>
          <a:xfrm>
            <a:off x="10136188" y="11084882"/>
            <a:ext cx="2991938" cy="855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 and Paper are the default backgrounds. Use Ink Black for dark mode and high-impact moments. Avoid pure white as a body background — Paper is preferred for warmth.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69672"/>
            <a:ext cx="16425335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3" name="Text 1"/>
          <p:cNvSpPr/>
          <p:nvPr/>
        </p:nvSpPr>
        <p:spPr>
          <a:xfrm>
            <a:off x="3145234" y="914302"/>
            <a:ext cx="10438911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spc="116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TYPOGRAPHY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145234" y="1462980"/>
            <a:ext cx="10438911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b="1" spc="-108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 SYSTEM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145234" y="2384892"/>
            <a:ext cx="6278880" cy="541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typefaces — each with a specific role. The system spans editorial, functional, and technical needs while maintaining a coherent visual personality.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45234" y="3268931"/>
            <a:ext cx="10134865" cy="6195385"/>
          </a:xfrm>
          <a:prstGeom prst="rect">
            <a:avLst/>
          </a:prstGeom>
          <a:ln w="10583">
            <a:solidFill>
              <a:srgbClr val="E0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55818" y="3279511"/>
            <a:ext cx="10113699" cy="706768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8" name="Shape 6"/>
          <p:cNvSpPr/>
          <p:nvPr/>
        </p:nvSpPr>
        <p:spPr>
          <a:xfrm>
            <a:off x="3155818" y="3975696"/>
            <a:ext cx="10113699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9" name="Text 7"/>
          <p:cNvSpPr/>
          <p:nvPr/>
        </p:nvSpPr>
        <p:spPr>
          <a:xfrm>
            <a:off x="3422386" y="3470011"/>
            <a:ext cx="4602026" cy="200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b="1" spc="75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 — ANTON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22386" y="3632895"/>
            <a:ext cx="4602026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FONTS · CONDENSED DISPLAY · HEADLINES, WORDMARK, POSTER TEXT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926168" y="3480597"/>
            <a:ext cx="2076781" cy="342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WEIGHT: 400 (INHERENTLY BOLD) USAGE: ALL-CAPS HEADLINES ONLY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155818" y="3986282"/>
            <a:ext cx="10113699" cy="317599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/>
          <p:nvPr/>
        </p:nvSpPr>
        <p:spPr>
          <a:xfrm>
            <a:off x="3422386" y="4367282"/>
            <a:ext cx="9867980" cy="2452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7200" spc="-216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</a:t>
            </a:r>
            <a:pPr algn="l" indent="0" marL="0">
              <a:lnSpc>
                <a:spcPct val="88000"/>
              </a:lnSpc>
              <a:buNone/>
            </a:pPr>
            <a:r>
              <a:rPr lang="en-US" sz="7200" spc="-216" kern="0" dirty="0">
                <a:solidFill>
                  <a:srgbClr val="FFDE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NIGHTS </a:t>
            </a:r>
            <a:pPr algn="l" indent="0" marL="0">
              <a:lnSpc>
                <a:spcPct val="88000"/>
              </a:lnSpc>
              <a:buNone/>
            </a:pPr>
            <a:r>
              <a:rPr lang="en-US" sz="7200" spc="-216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WORTH IT.</a:t>
            </a:r>
            <a:endParaRPr lang="en-US" sz="7200" dirty="0"/>
          </a:p>
        </p:txBody>
      </p:sp>
      <p:sp>
        <p:nvSpPr>
          <p:cNvPr id="14" name="Shape 12"/>
          <p:cNvSpPr/>
          <p:nvPr/>
        </p:nvSpPr>
        <p:spPr>
          <a:xfrm>
            <a:off x="3155818" y="8095427"/>
            <a:ext cx="10113699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15" name="Text 13"/>
          <p:cNvSpPr/>
          <p:nvPr/>
        </p:nvSpPr>
        <p:spPr>
          <a:xfrm>
            <a:off x="3422386" y="7790822"/>
            <a:ext cx="838200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 / 80–120PX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412920" y="7314572"/>
            <a:ext cx="8847730" cy="641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400" spc="-162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 TITLE</a:t>
            </a:r>
            <a:endParaRPr lang="en-US" sz="5400" dirty="0"/>
          </a:p>
        </p:txBody>
      </p:sp>
      <p:sp>
        <p:nvSpPr>
          <p:cNvPr id="17" name="Shape 15"/>
          <p:cNvSpPr/>
          <p:nvPr/>
        </p:nvSpPr>
        <p:spPr>
          <a:xfrm>
            <a:off x="3155818" y="8848665"/>
            <a:ext cx="10113699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18" name="Text 16"/>
          <p:cNvSpPr/>
          <p:nvPr/>
        </p:nvSpPr>
        <p:spPr>
          <a:xfrm>
            <a:off x="3422386" y="8544060"/>
            <a:ext cx="838200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 / 48PX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412920" y="8258310"/>
            <a:ext cx="8847730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72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HEADING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422386" y="9149130"/>
            <a:ext cx="838200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SUBHEAD / 28PX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412920" y="9011548"/>
            <a:ext cx="8847730" cy="304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spc="21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CARD TITLE / UI LABEL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3145234" y="9478533"/>
            <a:ext cx="10134865" cy="4278147"/>
          </a:xfrm>
          <a:prstGeom prst="rect">
            <a:avLst/>
          </a:prstGeom>
          <a:ln w="10583">
            <a:solidFill>
              <a:srgbClr val="E0DD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5818" y="9489118"/>
            <a:ext cx="10113699" cy="706768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24" name="Shape 22"/>
          <p:cNvSpPr/>
          <p:nvPr/>
        </p:nvSpPr>
        <p:spPr>
          <a:xfrm>
            <a:off x="3155818" y="10185303"/>
            <a:ext cx="10113699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25" name="Text 23"/>
          <p:cNvSpPr/>
          <p:nvPr/>
        </p:nvSpPr>
        <p:spPr>
          <a:xfrm>
            <a:off x="3422386" y="9679618"/>
            <a:ext cx="3915103" cy="200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b="1" spc="75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— DM SANS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22386" y="9842502"/>
            <a:ext cx="3915103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FONTS · GEOMETRIC SANS · BODY TEXT, UI, NAVIGATION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255428" y="9690204"/>
            <a:ext cx="2747521" cy="342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WEIGHTS: 300 · 400 · 500 · 600 · 700 USAGE: PARAGRAPHS, LABELS, BUTTONS, META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155818" y="10195885"/>
            <a:ext cx="10113699" cy="1868455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29" name="Text 27"/>
          <p:cNvSpPr/>
          <p:nvPr/>
        </p:nvSpPr>
        <p:spPr>
          <a:xfrm>
            <a:off x="3422386" y="10538692"/>
            <a:ext cx="5886450" cy="886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Stagd is where the underground meets the mainstream. We surface the gigs, exhibitions, and pop-ups that give your city its character — curated by locals, for locals who know the difference.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422386" y="11501768"/>
            <a:ext cx="5886450" cy="257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Subtext, metadata, venue names, descriptive copy.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155818" y="12673707"/>
            <a:ext cx="10113699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32" name="Text 30"/>
          <p:cNvSpPr/>
          <p:nvPr/>
        </p:nvSpPr>
        <p:spPr>
          <a:xfrm>
            <a:off x="3422386" y="12333057"/>
            <a:ext cx="838200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 / 20PX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412920" y="12216645"/>
            <a:ext cx="8847730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Introductory body or lead text — slightly larger than standard.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155818" y="13232805"/>
            <a:ext cx="10113699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35" name="Text 33"/>
          <p:cNvSpPr/>
          <p:nvPr/>
        </p:nvSpPr>
        <p:spPr>
          <a:xfrm>
            <a:off x="3422386" y="12910677"/>
            <a:ext cx="838200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/ 16PX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412920" y="12836598"/>
            <a:ext cx="8847730" cy="282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reading body. 16px / 1.65 line-height. The default for all long-form text.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22386" y="13438022"/>
            <a:ext cx="838200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 / 13PX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412920" y="13395689"/>
            <a:ext cx="8847730" cy="236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metadata, venue info, supporting labels. Medium weight to hold at small sizes.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3145234" y="13770904"/>
            <a:ext cx="10134865" cy="2642857"/>
          </a:xfrm>
          <a:prstGeom prst="rect">
            <a:avLst/>
          </a:prstGeom>
          <a:ln w="10583">
            <a:solidFill>
              <a:srgbClr val="E0DD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55818" y="13781489"/>
            <a:ext cx="10113699" cy="706768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41" name="Shape 39"/>
          <p:cNvSpPr/>
          <p:nvPr/>
        </p:nvSpPr>
        <p:spPr>
          <a:xfrm>
            <a:off x="3155818" y="14477674"/>
            <a:ext cx="10113699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42" name="Text 40"/>
          <p:cNvSpPr/>
          <p:nvPr/>
        </p:nvSpPr>
        <p:spPr>
          <a:xfrm>
            <a:off x="3422386" y="13971989"/>
            <a:ext cx="5838248" cy="200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b="1" spc="75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EDITORIAL SERIF — PLAYFAIR DISPLAY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422386" y="14134872"/>
            <a:ext cx="583824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FONTS · HIGH-CONTRAST SERIF · PULL QUOTES, EDITORIAL MOMENTS, CULTURAL CONTEXT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0118145" y="13982574"/>
            <a:ext cx="2884804" cy="342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WEIGHTS: 400 · 700 (NORMAL + ITALIC) USAGE: SPARINGLY — EDITORIAL CONTRAST ONLY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155818" y="14488255"/>
            <a:ext cx="10113699" cy="1914922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46" name="Text 44"/>
          <p:cNvSpPr/>
          <p:nvPr/>
        </p:nvSpPr>
        <p:spPr>
          <a:xfrm>
            <a:off x="3422386" y="14831053"/>
            <a:ext cx="569023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best event you've never heard of is always just around the corner."</a:t>
            </a:r>
            <a:endParaRPr lang="en-US" sz="2700" dirty="0"/>
          </a:p>
        </p:txBody>
      </p:sp>
      <p:sp>
        <p:nvSpPr>
          <p:cNvPr id="47" name="Text 45"/>
          <p:cNvSpPr/>
          <p:nvPr/>
        </p:nvSpPr>
        <p:spPr>
          <a:xfrm>
            <a:off x="3422386" y="15840610"/>
            <a:ext cx="6278880" cy="257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Used for editorial quotes, artist features, long-form editorial intros.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145234" y="16427979"/>
            <a:ext cx="10134865" cy="2175206"/>
          </a:xfrm>
          <a:prstGeom prst="rect">
            <a:avLst/>
          </a:prstGeom>
          <a:ln w="10583">
            <a:solidFill>
              <a:srgbClr val="E0DD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55818" y="16438564"/>
            <a:ext cx="10113699" cy="706768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50" name="Shape 48"/>
          <p:cNvSpPr/>
          <p:nvPr/>
        </p:nvSpPr>
        <p:spPr>
          <a:xfrm>
            <a:off x="3155818" y="17134749"/>
            <a:ext cx="10113699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51" name="Text 49"/>
          <p:cNvSpPr/>
          <p:nvPr/>
        </p:nvSpPr>
        <p:spPr>
          <a:xfrm>
            <a:off x="3422386" y="16629064"/>
            <a:ext cx="4327290" cy="200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b="1" spc="75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 — JETBRAINS MONO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22386" y="16791947"/>
            <a:ext cx="4327290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FONTS · MONOSPACE · LABELS, TAGS, SPECS, METADATA, DATES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9912052" y="16639649"/>
            <a:ext cx="3090897" cy="342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WEIGHTS: 400 · 500 · 700 USAGE: FUNCTIONAL TEXT, CHIPS, SECTION LABELS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155818" y="17145330"/>
            <a:ext cx="10113699" cy="1447271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55" name="Text 53"/>
          <p:cNvSpPr/>
          <p:nvPr/>
        </p:nvSpPr>
        <p:spPr>
          <a:xfrm>
            <a:off x="3422386" y="17488137"/>
            <a:ext cx="9867980" cy="251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b="1" spc="84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 2 MAY · 8 PM · T2F GARDEN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3422386" y="17815559"/>
            <a:ext cx="9867980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spc="83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01 · CONCERT · PKR 1,500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3422386" y="18097505"/>
            <a:ext cx="9867980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9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SECTION LABEL · WEEK OF 27 APR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145234" y="19060255"/>
            <a:ext cx="10134865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59" name="Text 57"/>
          <p:cNvSpPr/>
          <p:nvPr/>
        </p:nvSpPr>
        <p:spPr>
          <a:xfrm>
            <a:off x="3145234" y="19451841"/>
            <a:ext cx="10438911" cy="37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b="1" spc="33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 PAIRINGS</a:t>
            </a:r>
            <a:endParaRPr lang="en-US" sz="1650" dirty="0"/>
          </a:p>
        </p:txBody>
      </p:sp>
      <p:sp>
        <p:nvSpPr>
          <p:cNvPr id="60" name="Shape 58"/>
          <p:cNvSpPr/>
          <p:nvPr/>
        </p:nvSpPr>
        <p:spPr>
          <a:xfrm>
            <a:off x="3145234" y="20015564"/>
            <a:ext cx="10134865" cy="2839806"/>
          </a:xfrm>
          <a:prstGeom prst="rect">
            <a:avLst/>
          </a:prstGeom>
          <a:solidFill>
            <a:srgbClr val="E0DDD4"/>
          </a:solidFill>
          <a:ln w="10583">
            <a:solidFill>
              <a:srgbClr val="E0DDD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155818" y="20026150"/>
            <a:ext cx="5049738" cy="281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2" name="Text 60"/>
          <p:cNvSpPr/>
          <p:nvPr/>
        </p:nvSpPr>
        <p:spPr>
          <a:xfrm>
            <a:off x="3460585" y="20407150"/>
            <a:ext cx="4573411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90" kern="0" dirty="0">
                <a:solidFill>
                  <a:srgbClr val="FFFFFF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CARD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460585" y="20574000"/>
            <a:ext cx="4573411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01 · CONCERT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460585" y="20574000"/>
            <a:ext cx="4573411" cy="929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900" spc="-78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SOUNDS OF LYARI</a:t>
            </a:r>
            <a:endParaRPr lang="en-US" sz="3900" dirty="0"/>
          </a:p>
        </p:txBody>
      </p:sp>
      <p:sp>
        <p:nvSpPr>
          <p:cNvPr id="65" name="Text 63"/>
          <p:cNvSpPr/>
          <p:nvPr/>
        </p:nvSpPr>
        <p:spPr>
          <a:xfrm>
            <a:off x="3460585" y="20574000"/>
            <a:ext cx="4573411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spc="66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 2 MAY · 8 PM</a:t>
            </a:r>
            <a:endParaRPr lang="en-US" sz="825" dirty="0"/>
          </a:p>
        </p:txBody>
      </p:sp>
      <p:sp>
        <p:nvSpPr>
          <p:cNvPr id="66" name="Text 64"/>
          <p:cNvSpPr/>
          <p:nvPr/>
        </p:nvSpPr>
        <p:spPr>
          <a:xfrm>
            <a:off x="3460585" y="20574000"/>
            <a:ext cx="4573411" cy="236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T2F Garden, Karachi</a:t>
            </a:r>
            <a:endParaRPr lang="en-US" sz="975" dirty="0"/>
          </a:p>
        </p:txBody>
      </p:sp>
      <p:sp>
        <p:nvSpPr>
          <p:cNvPr id="67" name="Shape 65"/>
          <p:cNvSpPr/>
          <p:nvPr/>
        </p:nvSpPr>
        <p:spPr>
          <a:xfrm>
            <a:off x="8219778" y="20026150"/>
            <a:ext cx="5049738" cy="2818640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68" name="Text 66"/>
          <p:cNvSpPr/>
          <p:nvPr/>
        </p:nvSpPr>
        <p:spPr>
          <a:xfrm>
            <a:off x="8524545" y="20407150"/>
            <a:ext cx="4573411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9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EDITORIAL FEATURE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8524545" y="20574000"/>
            <a:ext cx="4573411" cy="723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60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OF 27 APR</a:t>
            </a:r>
            <a:endParaRPr lang="en-US" sz="3000" dirty="0"/>
          </a:p>
        </p:txBody>
      </p:sp>
      <p:sp>
        <p:nvSpPr>
          <p:cNvPr id="70" name="Text 68"/>
          <p:cNvSpPr/>
          <p:nvPr/>
        </p:nvSpPr>
        <p:spPr>
          <a:xfrm>
            <a:off x="8524545" y="20574000"/>
            <a:ext cx="3139440" cy="552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i="1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nights that prove Karachi's cultural scene is operating at full frequency.</a:t>
            </a:r>
            <a:endParaRPr lang="en-US" sz="1350" dirty="0"/>
          </a:p>
        </p:txBody>
      </p:sp>
      <p:sp>
        <p:nvSpPr>
          <p:cNvPr id="71" name="Text 69"/>
          <p:cNvSpPr/>
          <p:nvPr/>
        </p:nvSpPr>
        <p:spPr>
          <a:xfrm>
            <a:off x="8524545" y="20574000"/>
            <a:ext cx="4573411" cy="236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min read · by the editors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545179"/>
            <a:ext cx="16425335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3" name="Text 1"/>
          <p:cNvSpPr/>
          <p:nvPr/>
        </p:nvSpPr>
        <p:spPr>
          <a:xfrm>
            <a:off x="3145234" y="914298"/>
            <a:ext cx="10438911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spc="116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GRAPHIC LANGUAGE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145234" y="1462980"/>
            <a:ext cx="10438911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b="1" spc="-108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 DNA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145234" y="2384887"/>
            <a:ext cx="6278880" cy="792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Stagd's visual vocabulary is drawn from print culture — concert poster design, zine layouts, newspaper front pages. It lives in the tension between grid-order and expressive chaos. These are the recurring graphic devices that unify the brand.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45234" y="3520446"/>
            <a:ext cx="10134865" cy="6083102"/>
          </a:xfrm>
          <a:prstGeom prst="rect">
            <a:avLst/>
          </a:prstGeom>
          <a:solidFill>
            <a:srgbClr val="E0DDD4"/>
          </a:solidFill>
          <a:ln w="10583">
            <a:solidFill>
              <a:srgbClr val="E0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55818" y="3531031"/>
            <a:ext cx="3361697" cy="338071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3308119" y="3683329"/>
            <a:ext cx="464972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FFFFFF">
                    <a:alpha val="2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01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898720" y="3683329"/>
            <a:ext cx="466494" cy="228368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10" name="Text 8"/>
          <p:cNvSpPr/>
          <p:nvPr/>
        </p:nvSpPr>
        <p:spPr>
          <a:xfrm>
            <a:off x="5974920" y="3721429"/>
            <a:ext cx="390294" cy="190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b="1" spc="45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1,500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60585" y="4447645"/>
            <a:ext cx="2834728" cy="1169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00" spc="-66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SOUNDS OF LYARI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3460585" y="5693011"/>
            <a:ext cx="283472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 2 MAY · 8 PM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60585" y="6035808"/>
            <a:ext cx="2834728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spc="45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DIAGONAL STRIPE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3460585" y="6302378"/>
            <a:ext cx="2834728" cy="342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135° REPEATING PATTERN · TEXTURE WITHOUT IMAGERY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531736" y="3531031"/>
            <a:ext cx="3361697" cy="3380714"/>
          </a:xfrm>
          <a:prstGeom prst="rect">
            <a:avLst/>
          </a:prstGeom>
          <a:solidFill>
            <a:srgbClr val="ECE6D5"/>
          </a:solidFill>
          <a:ln/>
        </p:spPr>
      </p:sp>
      <p:sp>
        <p:nvSpPr>
          <p:cNvPr id="16" name="Text 14"/>
          <p:cNvSpPr/>
          <p:nvPr/>
        </p:nvSpPr>
        <p:spPr>
          <a:xfrm>
            <a:off x="6626986" y="3435781"/>
            <a:ext cx="2226270" cy="1495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3500" spc="-540" kern="0" dirty="0">
                <a:solidFill>
                  <a:srgbClr val="111111">
                    <a:alpha val="7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500" dirty="0"/>
          </a:p>
        </p:txBody>
      </p:sp>
      <p:sp>
        <p:nvSpPr>
          <p:cNvPr id="17" name="Text 15"/>
          <p:cNvSpPr/>
          <p:nvPr/>
        </p:nvSpPr>
        <p:spPr>
          <a:xfrm>
            <a:off x="6836503" y="3835794"/>
            <a:ext cx="283472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9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 14 · WEEK OF 27 APR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836503" y="4102364"/>
            <a:ext cx="2834728" cy="1781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900" spc="-78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NIGHTS </a:t>
            </a:r>
            <a:pPr algn="l" indent="0" marL="0">
              <a:lnSpc>
                <a:spcPct val="88000"/>
              </a:lnSpc>
              <a:buNone/>
            </a:pPr>
            <a:r>
              <a:rPr lang="en-US" sz="3900" spc="-78" kern="0" dirty="0">
                <a:solidFill>
                  <a:srgbClr val="FFDE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WORTH IT.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6836503" y="6035808"/>
            <a:ext cx="2834728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spc="45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VOLUME NUMBERS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836503" y="6302378"/>
            <a:ext cx="2834728" cy="342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OVERSIZED GHOST NUMERALS · EDITORIAL HIERARCHY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907655" y="3531031"/>
            <a:ext cx="3361862" cy="338071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12421" y="4706280"/>
            <a:ext cx="76068" cy="76068"/>
          </a:xfrm>
          <a:prstGeom prst="ellipse">
            <a:avLst/>
          </a:prstGeom>
          <a:solidFill>
            <a:srgbClr val="FFDE0D"/>
          </a:solidFill>
          <a:ln/>
        </p:spPr>
      </p:sp>
      <p:sp>
        <p:nvSpPr>
          <p:cNvPr id="23" name="Text 21"/>
          <p:cNvSpPr/>
          <p:nvPr/>
        </p:nvSpPr>
        <p:spPr>
          <a:xfrm>
            <a:off x="10364557" y="4668245"/>
            <a:ext cx="1209940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KHI · NOW PLAYING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212421" y="4934815"/>
            <a:ext cx="2834898" cy="723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WALL SESSIONS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10212421" y="5734683"/>
            <a:ext cx="850470" cy="262930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26" name="Text 24"/>
          <p:cNvSpPr/>
          <p:nvPr/>
        </p:nvSpPr>
        <p:spPr>
          <a:xfrm>
            <a:off x="10326721" y="5782308"/>
            <a:ext cx="698070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spc="50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PKR 1,000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0212421" y="6188106"/>
            <a:ext cx="2834898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spc="45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YELLOW ANCHORS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0212421" y="6454676"/>
            <a:ext cx="283489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TAGS · ACTIVE DOTS · CTA HIGHLIGHTS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155818" y="6925968"/>
            <a:ext cx="3361697" cy="2667000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30" name="Shape 28"/>
          <p:cNvSpPr/>
          <p:nvPr/>
        </p:nvSpPr>
        <p:spPr>
          <a:xfrm>
            <a:off x="3460585" y="7656875"/>
            <a:ext cx="2752163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31" name="Text 29"/>
          <p:cNvSpPr/>
          <p:nvPr/>
        </p:nvSpPr>
        <p:spPr>
          <a:xfrm>
            <a:off x="3460585" y="7409324"/>
            <a:ext cx="283472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VOL 14 · WEEK OF 27 APR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460585" y="8010258"/>
            <a:ext cx="2752163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33" name="Text 31"/>
          <p:cNvSpPr/>
          <p:nvPr/>
        </p:nvSpPr>
        <p:spPr>
          <a:xfrm>
            <a:off x="3460585" y="7762708"/>
            <a:ext cx="283472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01 OF 5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460585" y="8363641"/>
            <a:ext cx="2752163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35" name="Text 33"/>
          <p:cNvSpPr/>
          <p:nvPr/>
        </p:nvSpPr>
        <p:spPr>
          <a:xfrm>
            <a:off x="3460585" y="8116091"/>
            <a:ext cx="283472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 2 MAY · 8 PM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460585" y="8469483"/>
            <a:ext cx="283472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T2F GARDEN, KARACHI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460585" y="8869328"/>
            <a:ext cx="2834728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spc="45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MONO METADATA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3460585" y="9135898"/>
            <a:ext cx="283472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AS DESIGN · FLUSH-LEFT MONO TEXT ROWS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31736" y="6925968"/>
            <a:ext cx="3361697" cy="2667000"/>
          </a:xfrm>
          <a:prstGeom prst="rect">
            <a:avLst/>
          </a:prstGeom>
          <a:solidFill>
            <a:srgbClr val="ECE6D5"/>
          </a:solidFill>
          <a:ln/>
        </p:spPr>
      </p:sp>
      <p:sp>
        <p:nvSpPr>
          <p:cNvPr id="40" name="Shape 38"/>
          <p:cNvSpPr/>
          <p:nvPr/>
        </p:nvSpPr>
        <p:spPr>
          <a:xfrm>
            <a:off x="6531736" y="6925968"/>
            <a:ext cx="1680766" cy="133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1" name="Shape 39"/>
          <p:cNvSpPr/>
          <p:nvPr/>
        </p:nvSpPr>
        <p:spPr>
          <a:xfrm>
            <a:off x="8212502" y="6925968"/>
            <a:ext cx="1680931" cy="1333500"/>
          </a:xfrm>
          <a:prstGeom prst="rect">
            <a:avLst/>
          </a:prstGeom>
          <a:solidFill>
            <a:srgbClr val="1CAEE5"/>
          </a:solidFill>
          <a:ln/>
        </p:spPr>
      </p:sp>
      <p:sp>
        <p:nvSpPr>
          <p:cNvPr id="42" name="Shape 40"/>
          <p:cNvSpPr/>
          <p:nvPr/>
        </p:nvSpPr>
        <p:spPr>
          <a:xfrm>
            <a:off x="6531736" y="8259468"/>
            <a:ext cx="1680766" cy="1333500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43" name="Shape 41"/>
          <p:cNvSpPr/>
          <p:nvPr/>
        </p:nvSpPr>
        <p:spPr>
          <a:xfrm>
            <a:off x="8212502" y="8259468"/>
            <a:ext cx="1680931" cy="1333500"/>
          </a:xfrm>
          <a:prstGeom prst="rect">
            <a:avLst/>
          </a:prstGeom>
          <a:solidFill>
            <a:srgbClr val="049839"/>
          </a:solidFill>
          <a:ln/>
        </p:spPr>
      </p:sp>
      <p:sp>
        <p:nvSpPr>
          <p:cNvPr id="44" name="Text 42"/>
          <p:cNvSpPr/>
          <p:nvPr/>
        </p:nvSpPr>
        <p:spPr>
          <a:xfrm>
            <a:off x="6836503" y="7840926"/>
            <a:ext cx="2834728" cy="723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6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COLOUR BLOCKS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6836503" y="8717031"/>
            <a:ext cx="2834728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spc="45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 FIELD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6836503" y="8983600"/>
            <a:ext cx="2834728" cy="342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FULL-BLEED COLOR DIVISIONS · BAUHAUS-INSPIRED GRIDS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9907655" y="6925968"/>
            <a:ext cx="3361862" cy="2667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8" name="Shape 46"/>
          <p:cNvSpPr/>
          <p:nvPr/>
        </p:nvSpPr>
        <p:spPr>
          <a:xfrm rot="-240000">
            <a:off x="10210503" y="7784474"/>
            <a:ext cx="638175" cy="314325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49" name="Text 47"/>
          <p:cNvSpPr/>
          <p:nvPr/>
        </p:nvSpPr>
        <p:spPr>
          <a:xfrm rot="-240000">
            <a:off x="10343853" y="7841624"/>
            <a:ext cx="4476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spc="20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975" dirty="0"/>
          </a:p>
        </p:txBody>
      </p:sp>
      <p:sp>
        <p:nvSpPr>
          <p:cNvPr id="50" name="Shape 48"/>
          <p:cNvSpPr/>
          <p:nvPr/>
        </p:nvSpPr>
        <p:spPr>
          <a:xfrm>
            <a:off x="10961026" y="7785534"/>
            <a:ext cx="716525" cy="268717"/>
          </a:xfrm>
          <a:prstGeom prst="rect">
            <a:avLst/>
          </a:prstGeom>
          <a:ln w="10583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085910" y="7843742"/>
            <a:ext cx="54295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TONIGHT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1791819" y="7785534"/>
            <a:ext cx="762165" cy="247551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3" name="Text 51"/>
          <p:cNvSpPr/>
          <p:nvPr/>
        </p:nvSpPr>
        <p:spPr>
          <a:xfrm>
            <a:off x="11906119" y="7833159"/>
            <a:ext cx="609765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SOLD OUT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0212421" y="8212010"/>
            <a:ext cx="762165" cy="247551"/>
          </a:xfrm>
          <a:prstGeom prst="rect">
            <a:avLst/>
          </a:prstGeom>
          <a:solidFill>
            <a:srgbClr val="049839"/>
          </a:solidFill>
          <a:ln/>
        </p:spPr>
      </p:sp>
      <p:sp>
        <p:nvSpPr>
          <p:cNvPr id="55" name="Text 53"/>
          <p:cNvSpPr/>
          <p:nvPr/>
        </p:nvSpPr>
        <p:spPr>
          <a:xfrm>
            <a:off x="10326721" y="8259635"/>
            <a:ext cx="609765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FEW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 rot="120000">
            <a:off x="11090970" y="8212102"/>
            <a:ext cx="561975" cy="314325"/>
          </a:xfrm>
          <a:prstGeom prst="rect">
            <a:avLst/>
          </a:prstGeom>
          <a:ln w="10583">
            <a:solidFill>
              <a:srgbClr val="FFDE0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 rot="120000">
            <a:off x="11215854" y="8270311"/>
            <a:ext cx="388408" cy="236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FDE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</a:t>
            </a:r>
            <a:endParaRPr lang="en-US" sz="975" dirty="0"/>
          </a:p>
        </p:txBody>
      </p:sp>
      <p:sp>
        <p:nvSpPr>
          <p:cNvPr id="58" name="Text 56"/>
          <p:cNvSpPr/>
          <p:nvPr/>
        </p:nvSpPr>
        <p:spPr>
          <a:xfrm>
            <a:off x="10212421" y="8717031"/>
            <a:ext cx="2834898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spc="45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STATUS STAMPS</a:t>
            </a:r>
            <a:endParaRPr lang="en-US" sz="1125" dirty="0"/>
          </a:p>
        </p:txBody>
      </p:sp>
      <p:sp>
        <p:nvSpPr>
          <p:cNvPr id="59" name="Text 57"/>
          <p:cNvSpPr/>
          <p:nvPr/>
        </p:nvSpPr>
        <p:spPr>
          <a:xfrm>
            <a:off x="10212421" y="8983600"/>
            <a:ext cx="2834898" cy="342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 FOR AVAILABILITY, URGENCY, FEATURED STATUS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145234" y="10060614"/>
            <a:ext cx="10134865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61" name="Text 59"/>
          <p:cNvSpPr/>
          <p:nvPr/>
        </p:nvSpPr>
        <p:spPr>
          <a:xfrm>
            <a:off x="3145234" y="10452199"/>
            <a:ext cx="10438911" cy="37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b="1" spc="33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LAYOUT PRINCIPLES</a:t>
            </a:r>
            <a:endParaRPr lang="en-US" sz="1650" dirty="0"/>
          </a:p>
        </p:txBody>
      </p:sp>
      <p:sp>
        <p:nvSpPr>
          <p:cNvPr id="62" name="Shape 60"/>
          <p:cNvSpPr/>
          <p:nvPr/>
        </p:nvSpPr>
        <p:spPr>
          <a:xfrm>
            <a:off x="3145234" y="11015932"/>
            <a:ext cx="10134865" cy="1614951"/>
          </a:xfrm>
          <a:prstGeom prst="rect">
            <a:avLst/>
          </a:prstGeom>
          <a:solidFill>
            <a:srgbClr val="E0DDD4"/>
          </a:solidFill>
          <a:ln w="10583">
            <a:solidFill>
              <a:srgbClr val="E0DDD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155818" y="11026508"/>
            <a:ext cx="3361697" cy="1593784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64" name="Text 62"/>
          <p:cNvSpPr/>
          <p:nvPr/>
        </p:nvSpPr>
        <p:spPr>
          <a:xfrm>
            <a:off x="3384352" y="11293078"/>
            <a:ext cx="2991768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spc="99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NEWSSTAND GRID</a:t>
            </a:r>
            <a:endParaRPr lang="en-US" sz="825" dirty="0"/>
          </a:p>
        </p:txBody>
      </p:sp>
      <p:sp>
        <p:nvSpPr>
          <p:cNvPr id="65" name="Text 63"/>
          <p:cNvSpPr/>
          <p:nvPr/>
        </p:nvSpPr>
        <p:spPr>
          <a:xfrm>
            <a:off x="3384352" y="11536831"/>
            <a:ext cx="2991768" cy="855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are treated as magazine covers — self-contained, rectangular, with the event title dominating. Use the full bleed; white space is earned, not defaulted to.</a:t>
            </a:r>
            <a:endParaRPr lang="en-US" sz="975" dirty="0"/>
          </a:p>
        </p:txBody>
      </p:sp>
      <p:sp>
        <p:nvSpPr>
          <p:cNvPr id="66" name="Shape 64"/>
          <p:cNvSpPr/>
          <p:nvPr/>
        </p:nvSpPr>
        <p:spPr>
          <a:xfrm>
            <a:off x="6531736" y="11026508"/>
            <a:ext cx="3361697" cy="1593784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67" name="Text 65"/>
          <p:cNvSpPr/>
          <p:nvPr/>
        </p:nvSpPr>
        <p:spPr>
          <a:xfrm>
            <a:off x="6760270" y="11293078"/>
            <a:ext cx="2991768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spc="99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ASYMMETRIC EMPHASIS</a:t>
            </a:r>
            <a:endParaRPr lang="en-US" sz="825" dirty="0"/>
          </a:p>
        </p:txBody>
      </p:sp>
      <p:sp>
        <p:nvSpPr>
          <p:cNvPr id="68" name="Text 66"/>
          <p:cNvSpPr/>
          <p:nvPr/>
        </p:nvSpPr>
        <p:spPr>
          <a:xfrm>
            <a:off x="6760270" y="11536831"/>
            <a:ext cx="2991768" cy="855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Titles are oversized. Supporting information is deliberately smaller. There is always one element that commands attention — prevent visual equality at all costs.</a:t>
            </a:r>
            <a:endParaRPr lang="en-US" sz="975" dirty="0"/>
          </a:p>
        </p:txBody>
      </p:sp>
      <p:sp>
        <p:nvSpPr>
          <p:cNvPr id="69" name="Shape 67"/>
          <p:cNvSpPr/>
          <p:nvPr/>
        </p:nvSpPr>
        <p:spPr>
          <a:xfrm>
            <a:off x="9907655" y="11026508"/>
            <a:ext cx="3361862" cy="1593784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70" name="Text 68"/>
          <p:cNvSpPr/>
          <p:nvPr/>
        </p:nvSpPr>
        <p:spPr>
          <a:xfrm>
            <a:off x="10136188" y="11293078"/>
            <a:ext cx="2991938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spc="99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RULED LINES</a:t>
            </a:r>
            <a:endParaRPr lang="en-US" sz="825" dirty="0"/>
          </a:p>
        </p:txBody>
      </p:sp>
      <p:sp>
        <p:nvSpPr>
          <p:cNvPr id="71" name="Text 69"/>
          <p:cNvSpPr/>
          <p:nvPr/>
        </p:nvSpPr>
        <p:spPr>
          <a:xfrm>
            <a:off x="10136188" y="11536831"/>
            <a:ext cx="2991938" cy="855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(1–2px) are used to separate content in a newspaper-style manner. They are structural, not decorative. Use them flush to the content grid, never floating.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662588"/>
            <a:ext cx="16425335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3" name="Text 1"/>
          <p:cNvSpPr/>
          <p:nvPr/>
        </p:nvSpPr>
        <p:spPr>
          <a:xfrm>
            <a:off x="3145234" y="914307"/>
            <a:ext cx="10438911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spc="116" kern="0" dirty="0">
                <a:solidFill>
                  <a:srgbClr val="FFFFFF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VOICE &amp; TONE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145234" y="1462980"/>
            <a:ext cx="10438911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 &amp; TONE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145234" y="2384887"/>
            <a:ext cx="6278880" cy="792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Stagd speaks like a knowledgeable friend who actually goes out. We're not corporate, not sycophantic, not try-hard. We know the difference between a good night and a great one — and we say it plainly.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45234" y="3596515"/>
            <a:ext cx="10134865" cy="5536572"/>
          </a:xfrm>
          <a:prstGeom prst="rect">
            <a:avLst/>
          </a:prstGeom>
          <a:solidFill>
            <a:srgbClr val="FFFFFF">
              <a:alpha val="10000"/>
            </a:srgbClr>
          </a:solidFill>
          <a:ln w="1058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55818" y="3607101"/>
            <a:ext cx="5049738" cy="2640707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3460585" y="3949898"/>
            <a:ext cx="4573411" cy="31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b="1" spc="27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THE KNOW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60585" y="4376542"/>
            <a:ext cx="4573411" cy="477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context. We know the artists, the venues, the history. We don't over-explain — we trust our audience is curious, not ignorant.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60585" y="5006578"/>
            <a:ext cx="21167" cy="898426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11" name="Text 9"/>
          <p:cNvSpPr/>
          <p:nvPr/>
        </p:nvSpPr>
        <p:spPr>
          <a:xfrm>
            <a:off x="3672251" y="5158885"/>
            <a:ext cx="4159179" cy="175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spc="81" kern="0" dirty="0">
                <a:solidFill>
                  <a:srgbClr val="FFDE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672251" y="5352855"/>
            <a:ext cx="4159179" cy="43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"T2F Garden has housed the underground since before underground was a word people used."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19778" y="3607101"/>
            <a:ext cx="5049738" cy="2640707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/>
          <p:nvPr/>
        </p:nvSpPr>
        <p:spPr>
          <a:xfrm>
            <a:off x="8524545" y="3949898"/>
            <a:ext cx="4573411" cy="31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b="1" spc="27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DIRECT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24545" y="4376542"/>
            <a:ext cx="4573411" cy="477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sentences. Active voice. No jargon. We say "Saturday, 8 PM" not "this coming weekend in the evening hours." Every word earns its place.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24545" y="5006578"/>
            <a:ext cx="21167" cy="698500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17" name="Text 15"/>
          <p:cNvSpPr/>
          <p:nvPr/>
        </p:nvSpPr>
        <p:spPr>
          <a:xfrm>
            <a:off x="8736212" y="5158885"/>
            <a:ext cx="4159179" cy="175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spc="81" kern="0" dirty="0">
                <a:solidFill>
                  <a:srgbClr val="FFDE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8736212" y="5352855"/>
            <a:ext cx="4159179" cy="238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"Five nights. One week. No excuses."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55818" y="6262027"/>
            <a:ext cx="5049738" cy="2860477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Text 18"/>
          <p:cNvSpPr/>
          <p:nvPr/>
        </p:nvSpPr>
        <p:spPr>
          <a:xfrm>
            <a:off x="3460585" y="6604825"/>
            <a:ext cx="4573411" cy="31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b="1" spc="27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ROOTED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460585" y="7031468"/>
            <a:ext cx="4573411" cy="697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Karachi is our home. We use real place names, real community references. We don't genericise for a global audience at the expense of local texture.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60585" y="7881277"/>
            <a:ext cx="21167" cy="898426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23" name="Text 21"/>
          <p:cNvSpPr/>
          <p:nvPr/>
        </p:nvSpPr>
        <p:spPr>
          <a:xfrm>
            <a:off x="3672251" y="8033575"/>
            <a:ext cx="4159179" cy="175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spc="81" kern="0" dirty="0">
                <a:solidFill>
                  <a:srgbClr val="FFDE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3672251" y="8227554"/>
            <a:ext cx="4159179" cy="43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"Burns Road after dark is a different city. This show captures exactly that."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19778" y="6262027"/>
            <a:ext cx="5049738" cy="2860477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6" name="Text 24"/>
          <p:cNvSpPr/>
          <p:nvPr/>
        </p:nvSpPr>
        <p:spPr>
          <a:xfrm>
            <a:off x="8524545" y="6604825"/>
            <a:ext cx="4573411" cy="31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b="1" spc="27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ENTHUSIASTIC, NOT HYPE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524545" y="7031468"/>
            <a:ext cx="4573411" cy="697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genuinely love these events. But we don't oversell. We describe; we don't cheerlead. Avoid superlatives unless they're earned. No "amazing", "epic", "must-see".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24545" y="7881277"/>
            <a:ext cx="21167" cy="898426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29" name="Text 27"/>
          <p:cNvSpPr/>
          <p:nvPr/>
        </p:nvSpPr>
        <p:spPr>
          <a:xfrm>
            <a:off x="8736212" y="8033575"/>
            <a:ext cx="4159179" cy="175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spc="81" kern="0" dirty="0">
                <a:solidFill>
                  <a:srgbClr val="FFDE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8736212" y="8227554"/>
            <a:ext cx="4159179" cy="43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"Risograph printing, explained properly. Small class. You'll leave with a print."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145234" y="9590159"/>
            <a:ext cx="10134865" cy="3158133"/>
          </a:xfrm>
          <a:prstGeom prst="rect">
            <a:avLst/>
          </a:prstGeom>
          <a:solidFill>
            <a:srgbClr val="FFFFFF">
              <a:alpha val="10000"/>
            </a:srgbClr>
          </a:solidFill>
          <a:ln w="1058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55818" y="9600735"/>
            <a:ext cx="5049738" cy="3136966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3" name="Shape 31"/>
          <p:cNvSpPr/>
          <p:nvPr/>
        </p:nvSpPr>
        <p:spPr>
          <a:xfrm>
            <a:off x="3460585" y="9943542"/>
            <a:ext cx="76068" cy="76068"/>
          </a:xfrm>
          <a:prstGeom prst="ellipse">
            <a:avLst/>
          </a:prstGeom>
          <a:solidFill>
            <a:srgbClr val="049839"/>
          </a:solidFill>
          <a:ln/>
        </p:spPr>
      </p:sp>
      <p:sp>
        <p:nvSpPr>
          <p:cNvPr id="34" name="Text 32"/>
          <p:cNvSpPr/>
          <p:nvPr/>
        </p:nvSpPr>
        <p:spPr>
          <a:xfrm>
            <a:off x="3612720" y="9926669"/>
            <a:ext cx="762132" cy="143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9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THIS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460585" y="10676764"/>
            <a:ext cx="4440205" cy="10583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460585" y="10362605"/>
            <a:ext cx="4573411" cy="237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"Sounds of Lyari · SAT 2 MAY · PKR 1,500 · T2F Garden"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460585" y="11115807"/>
            <a:ext cx="4440205" cy="10583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460585" y="10801648"/>
            <a:ext cx="4573411" cy="237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"Five nights worth showing up for."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460585" y="11554850"/>
            <a:ext cx="4440205" cy="10583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460585" y="11240691"/>
            <a:ext cx="4573411" cy="237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"Week of 27 Apr · Vol. 14"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460585" y="11993893"/>
            <a:ext cx="4440205" cy="10583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460585" y="11679734"/>
            <a:ext cx="4573411" cy="237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"Now playing in Karachi."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460585" y="12118777"/>
            <a:ext cx="4573411" cy="237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"Open studio. Drop in. Make something."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219778" y="9600735"/>
            <a:ext cx="5049738" cy="3136966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45" name="Shape 43"/>
          <p:cNvSpPr/>
          <p:nvPr/>
        </p:nvSpPr>
        <p:spPr>
          <a:xfrm>
            <a:off x="8219778" y="9600735"/>
            <a:ext cx="10583" cy="313696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535128" y="9943542"/>
            <a:ext cx="76068" cy="7606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7" name="Text 45"/>
          <p:cNvSpPr/>
          <p:nvPr/>
        </p:nvSpPr>
        <p:spPr>
          <a:xfrm>
            <a:off x="8687263" y="9926669"/>
            <a:ext cx="625045" cy="143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9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THIS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535128" y="10676764"/>
            <a:ext cx="4429621" cy="10583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535128" y="10362605"/>
            <a:ext cx="4562510" cy="237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"🔥 AMAZING concert you CANNOT miss this weekend!! 🎶"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535128" y="11115807"/>
            <a:ext cx="4429621" cy="10583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535128" y="10801648"/>
            <a:ext cx="4562510" cy="237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"Discover incredible experiences near you!"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535128" y="11554850"/>
            <a:ext cx="4429621" cy="10583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535128" y="11240691"/>
            <a:ext cx="4562510" cy="237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"Join us for a night of music and fun 🎉"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535128" y="11993893"/>
            <a:ext cx="4429621" cy="10583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535128" y="11679734"/>
            <a:ext cx="4562510" cy="237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"Epic vibes, world-class talent, unforgettable memories."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535128" y="12118777"/>
            <a:ext cx="4562510" cy="237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"Book your tickets now before it's too late!!!"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939114"/>
            <a:ext cx="16425335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3" name="Text 1"/>
          <p:cNvSpPr/>
          <p:nvPr/>
        </p:nvSpPr>
        <p:spPr>
          <a:xfrm>
            <a:off x="3145234" y="914307"/>
            <a:ext cx="10438911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spc="116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MOTION &amp; ANIMATION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145234" y="1462980"/>
            <a:ext cx="10438911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b="1" spc="-108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145234" y="2384887"/>
            <a:ext cx="6278880" cy="792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in Stagd is purposeful and fast. We don't decorate with animation — we use it to reveal, transition, and direct attention. All motion should feel physical: objects have weight and spring to their resting states.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45234" y="3520446"/>
            <a:ext cx="10134865" cy="2633266"/>
          </a:xfrm>
          <a:prstGeom prst="rect">
            <a:avLst/>
          </a:prstGeom>
          <a:solidFill>
            <a:srgbClr val="E0DDD4"/>
          </a:solidFill>
          <a:ln w="10583">
            <a:solidFill>
              <a:srgbClr val="E0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55818" y="3531031"/>
            <a:ext cx="3361697" cy="2612099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8" name="Text 6"/>
          <p:cNvSpPr/>
          <p:nvPr/>
        </p:nvSpPr>
        <p:spPr>
          <a:xfrm>
            <a:off x="3422386" y="3835803"/>
            <a:ext cx="2913418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b="1" spc="22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EASING: EXPO OUT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422386" y="4159579"/>
            <a:ext cx="2913418" cy="650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easing for reveals and entrances. Content comes in fast, settles confidently. cubic-bezier(0.16, 1, 0.3, 1).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3422386" y="5438840"/>
            <a:ext cx="2828561" cy="19017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11" name="Shape 9"/>
          <p:cNvSpPr/>
          <p:nvPr/>
        </p:nvSpPr>
        <p:spPr>
          <a:xfrm>
            <a:off x="6155697" y="5400647"/>
            <a:ext cx="95250" cy="95250"/>
          </a:xfrm>
          <a:prstGeom prst="ellipse">
            <a:avLst/>
          </a:prstGeom>
          <a:solidFill>
            <a:srgbClr val="FFDE0D"/>
          </a:solidFill>
          <a:ln/>
        </p:spPr>
      </p:sp>
      <p:sp>
        <p:nvSpPr>
          <p:cNvPr id="12" name="Text 10"/>
          <p:cNvSpPr/>
          <p:nvPr/>
        </p:nvSpPr>
        <p:spPr>
          <a:xfrm>
            <a:off x="3422386" y="5572125"/>
            <a:ext cx="291341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0.16, 1, 0.3, 1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531736" y="3531031"/>
            <a:ext cx="3361697" cy="2612099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14" name="Text 12"/>
          <p:cNvSpPr/>
          <p:nvPr/>
        </p:nvSpPr>
        <p:spPr>
          <a:xfrm>
            <a:off x="6798304" y="3835803"/>
            <a:ext cx="2913418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b="1" spc="22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DURATION: 240–400MS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798304" y="4159579"/>
            <a:ext cx="2913418" cy="650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transitions: 240ms. Card entrances: 320ms. Page transitions: 400ms. Never exceed 500ms for UI-driven motion.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874372" y="4924555"/>
            <a:ext cx="990832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240ms · Micro UI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798304" y="5209980"/>
            <a:ext cx="609534" cy="3803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18" name="Text 16"/>
          <p:cNvSpPr/>
          <p:nvPr/>
        </p:nvSpPr>
        <p:spPr>
          <a:xfrm>
            <a:off x="7483905" y="5152932"/>
            <a:ext cx="1276582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320ms · Card entrance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798304" y="5438347"/>
            <a:ext cx="762000" cy="38034"/>
          </a:xfrm>
          <a:prstGeom prst="roundRect">
            <a:avLst>
              <a:gd name="adj" fmla="val 50000"/>
            </a:avLst>
          </a:prstGeom>
          <a:solidFill>
            <a:srgbClr val="666666"/>
          </a:solidFill>
          <a:ln/>
        </p:spPr>
      </p:sp>
      <p:sp>
        <p:nvSpPr>
          <p:cNvPr id="20" name="Text 18"/>
          <p:cNvSpPr/>
          <p:nvPr/>
        </p:nvSpPr>
        <p:spPr>
          <a:xfrm>
            <a:off x="7636372" y="5381299"/>
            <a:ext cx="1391014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400ms · Page transition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907655" y="3531031"/>
            <a:ext cx="3361862" cy="2612099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22" name="Text 20"/>
          <p:cNvSpPr/>
          <p:nvPr/>
        </p:nvSpPr>
        <p:spPr>
          <a:xfrm>
            <a:off x="10174222" y="3835803"/>
            <a:ext cx="2913589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b="1" spc="22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STAGGER REVEALS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0174222" y="4159579"/>
            <a:ext cx="2913589" cy="650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multiple cards or list items appear together, stagger entrance by 40ms per item. Creates editorial rhythm without feeling mechanical.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10174222" y="4924555"/>
            <a:ext cx="2828727" cy="266568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74222" y="4924555"/>
            <a:ext cx="2828727" cy="2665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74222" y="5248182"/>
            <a:ext cx="2828727" cy="266568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74222" y="5248182"/>
            <a:ext cx="2828727" cy="2665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74222" y="5571799"/>
            <a:ext cx="2828727" cy="266568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74222" y="5571799"/>
            <a:ext cx="2828727" cy="2665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0" name="Shape 28"/>
          <p:cNvSpPr/>
          <p:nvPr/>
        </p:nvSpPr>
        <p:spPr>
          <a:xfrm>
            <a:off x="3145234" y="6167940"/>
            <a:ext cx="10134865" cy="1856879"/>
          </a:xfrm>
          <a:prstGeom prst="rect">
            <a:avLst/>
          </a:prstGeom>
          <a:solidFill>
            <a:srgbClr val="E0DDD4"/>
          </a:solidFill>
          <a:ln w="10583">
            <a:solidFill>
              <a:srgbClr val="E0DD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55818" y="6178516"/>
            <a:ext cx="5049738" cy="1835712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32" name="Text 30"/>
          <p:cNvSpPr/>
          <p:nvPr/>
        </p:nvSpPr>
        <p:spPr>
          <a:xfrm>
            <a:off x="3384352" y="6445086"/>
            <a:ext cx="4730451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spc="99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MOTION FOR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3384352" y="6727031"/>
            <a:ext cx="188317" cy="236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0498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3572537" y="6748202"/>
            <a:ext cx="1611280" cy="175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and screen transitions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3384352" y="7001210"/>
            <a:ext cx="188317" cy="236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0498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3572537" y="7022371"/>
            <a:ext cx="1487091" cy="1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entrance / list reveal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3384352" y="7275379"/>
            <a:ext cx="188317" cy="236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0498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3572537" y="7296550"/>
            <a:ext cx="1446080" cy="175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/ skeleton states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3384352" y="7549558"/>
            <a:ext cx="188317" cy="236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0498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3572537" y="7570729"/>
            <a:ext cx="1556048" cy="175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Tap/press feedback (scale)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8219778" y="6178516"/>
            <a:ext cx="5049738" cy="1835712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42" name="Text 40"/>
          <p:cNvSpPr/>
          <p:nvPr/>
        </p:nvSpPr>
        <p:spPr>
          <a:xfrm>
            <a:off x="8448312" y="6445086"/>
            <a:ext cx="4730451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spc="99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8448312" y="6727031"/>
            <a:ext cx="170623" cy="236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8618802" y="6748202"/>
            <a:ext cx="1755974" cy="175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Looping decorative animations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8448312" y="7001210"/>
            <a:ext cx="170623" cy="236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8618802" y="7022371"/>
            <a:ext cx="2103073" cy="1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Long, cinematic transitions (&gt;600ms)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8448312" y="7275379"/>
            <a:ext cx="170623" cy="236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8618802" y="7296550"/>
            <a:ext cx="1418299" cy="175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Parallax for its own sake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8448312" y="7549558"/>
            <a:ext cx="170623" cy="236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8618802" y="7570729"/>
            <a:ext cx="1934567" cy="175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that blocks content access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450877"/>
            <a:ext cx="16425335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3" name="Text 1"/>
          <p:cNvSpPr/>
          <p:nvPr/>
        </p:nvSpPr>
        <p:spPr>
          <a:xfrm>
            <a:off x="3145234" y="914307"/>
            <a:ext cx="10438911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spc="116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— PLATFORM SPECIFICATIONS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145234" y="1462980"/>
            <a:ext cx="10438911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b="1" spc="-108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145234" y="2384896"/>
            <a:ext cx="6278880" cy="541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Stagd exists across multiple touchpoints. Each has its own requirements — but the brand vocabulary is consistent: bold type, Signal Yellow, Ink Black, and the e-stamp mark.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45234" y="3268935"/>
            <a:ext cx="10134865" cy="3483901"/>
          </a:xfrm>
          <a:prstGeom prst="rect">
            <a:avLst/>
          </a:prstGeom>
          <a:solidFill>
            <a:srgbClr val="E0DDD4"/>
          </a:solidFill>
          <a:ln w="10583">
            <a:solidFill>
              <a:srgbClr val="E0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55818" y="3279511"/>
            <a:ext cx="3361697" cy="3462735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8" name="Text 6"/>
          <p:cNvSpPr/>
          <p:nvPr/>
        </p:nvSpPr>
        <p:spPr>
          <a:xfrm>
            <a:off x="3422386" y="3622318"/>
            <a:ext cx="2913418" cy="282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b="1" spc="24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2386" y="4382332"/>
            <a:ext cx="2828561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10" name="Text 8"/>
          <p:cNvSpPr/>
          <p:nvPr/>
        </p:nvSpPr>
        <p:spPr>
          <a:xfrm>
            <a:off x="3422386" y="4153960"/>
            <a:ext cx="579239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434376" y="4132799"/>
            <a:ext cx="892770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iOS · Android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3422386" y="4718516"/>
            <a:ext cx="2828561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13" name="Text 11"/>
          <p:cNvSpPr/>
          <p:nvPr/>
        </p:nvSpPr>
        <p:spPr>
          <a:xfrm>
            <a:off x="3422386" y="4490145"/>
            <a:ext cx="108227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TOUCH TARGET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622892" y="4468983"/>
            <a:ext cx="704255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 × 44 pt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3422386" y="5054700"/>
            <a:ext cx="2828561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16" name="Text 14"/>
          <p:cNvSpPr/>
          <p:nvPr/>
        </p:nvSpPr>
        <p:spPr>
          <a:xfrm>
            <a:off x="3422386" y="4826338"/>
            <a:ext cx="893597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TEXT MIN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560054" y="4805167"/>
            <a:ext cx="767093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13pt / 14pt</a:t>
            </a:r>
            <a:endParaRPr lang="en-US" sz="825" dirty="0"/>
          </a:p>
        </p:txBody>
      </p:sp>
      <p:sp>
        <p:nvSpPr>
          <p:cNvPr id="18" name="Shape 16"/>
          <p:cNvSpPr/>
          <p:nvPr/>
        </p:nvSpPr>
        <p:spPr>
          <a:xfrm>
            <a:off x="3422386" y="5390894"/>
            <a:ext cx="2828561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19" name="Text 17"/>
          <p:cNvSpPr/>
          <p:nvPr/>
        </p:nvSpPr>
        <p:spPr>
          <a:xfrm>
            <a:off x="3422386" y="5162522"/>
            <a:ext cx="767920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RADIUS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497215" y="5141351"/>
            <a:ext cx="829932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0px (square)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3422386" y="5727078"/>
            <a:ext cx="2828561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22" name="Text 20"/>
          <p:cNvSpPr/>
          <p:nvPr/>
        </p:nvSpPr>
        <p:spPr>
          <a:xfrm>
            <a:off x="3422386" y="5498706"/>
            <a:ext cx="579239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ICON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246026" y="5477545"/>
            <a:ext cx="1081121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Yellow · e-stamp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3422386" y="6063262"/>
            <a:ext cx="2828561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25" name="Text 23"/>
          <p:cNvSpPr/>
          <p:nvPr/>
        </p:nvSpPr>
        <p:spPr>
          <a:xfrm>
            <a:off x="3422386" y="5834890"/>
            <a:ext cx="705082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BAR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120515" y="5813729"/>
            <a:ext cx="1206632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Dark on light mode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422386" y="6171084"/>
            <a:ext cx="893597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WORDMARK SIZE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71704" y="6149913"/>
            <a:ext cx="955443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24–28pt in nav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6531736" y="3279511"/>
            <a:ext cx="3361697" cy="3462735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30" name="Text 28"/>
          <p:cNvSpPr/>
          <p:nvPr/>
        </p:nvSpPr>
        <p:spPr>
          <a:xfrm>
            <a:off x="6798304" y="3622318"/>
            <a:ext cx="2913418" cy="282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b="1" spc="24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/ MARKETING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98304" y="4382332"/>
            <a:ext cx="2828561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32" name="Text 30"/>
          <p:cNvSpPr/>
          <p:nvPr/>
        </p:nvSpPr>
        <p:spPr>
          <a:xfrm>
            <a:off x="6798304" y="4153960"/>
            <a:ext cx="1145117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CONTENT WIDTH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249999" y="4132799"/>
            <a:ext cx="453066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1200px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6798304" y="4718516"/>
            <a:ext cx="2828561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35" name="Text 33"/>
          <p:cNvSpPr/>
          <p:nvPr/>
        </p:nvSpPr>
        <p:spPr>
          <a:xfrm>
            <a:off x="6798304" y="4490145"/>
            <a:ext cx="893597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TEXT MIN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375511" y="4468983"/>
            <a:ext cx="327554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6798304" y="5054700"/>
            <a:ext cx="2828561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38" name="Text 36"/>
          <p:cNvSpPr/>
          <p:nvPr/>
        </p:nvSpPr>
        <p:spPr>
          <a:xfrm>
            <a:off x="6798304" y="4826338"/>
            <a:ext cx="1207955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HEIGHT (BODY)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375511" y="4805167"/>
            <a:ext cx="327554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1.65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6798304" y="5390894"/>
            <a:ext cx="2828561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41" name="Text 39"/>
          <p:cNvSpPr/>
          <p:nvPr/>
        </p:nvSpPr>
        <p:spPr>
          <a:xfrm>
            <a:off x="6798304" y="5162522"/>
            <a:ext cx="767920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BREAKPOINTS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559106" y="5141351"/>
            <a:ext cx="1143959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640 · 1024 · 1280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6798304" y="5727078"/>
            <a:ext cx="2828561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44" name="Text 42"/>
          <p:cNvSpPr/>
          <p:nvPr/>
        </p:nvSpPr>
        <p:spPr>
          <a:xfrm>
            <a:off x="6798304" y="5498706"/>
            <a:ext cx="893597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 HEADLINE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747621" y="5477545"/>
            <a:ext cx="955443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80–120px Anton</a:t>
            </a:r>
            <a:endParaRPr lang="en-US" sz="825" dirty="0"/>
          </a:p>
        </p:txBody>
      </p:sp>
      <p:sp>
        <p:nvSpPr>
          <p:cNvPr id="46" name="Shape 44"/>
          <p:cNvSpPr/>
          <p:nvPr/>
        </p:nvSpPr>
        <p:spPr>
          <a:xfrm>
            <a:off x="6798304" y="6063262"/>
            <a:ext cx="2828561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47" name="Text 45"/>
          <p:cNvSpPr/>
          <p:nvPr/>
        </p:nvSpPr>
        <p:spPr>
          <a:xfrm>
            <a:off x="6798304" y="5834890"/>
            <a:ext cx="893597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RADIUS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873133" y="5813729"/>
            <a:ext cx="829932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0px (square)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6798304" y="6171084"/>
            <a:ext cx="705082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 RING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559106" y="6149913"/>
            <a:ext cx="1143959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2px Yellow offset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9907655" y="3279511"/>
            <a:ext cx="3361862" cy="3462735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52" name="Text 50"/>
          <p:cNvSpPr/>
          <p:nvPr/>
        </p:nvSpPr>
        <p:spPr>
          <a:xfrm>
            <a:off x="10174222" y="3622318"/>
            <a:ext cx="2913589" cy="282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b="1" spc="24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PRINT / POSTER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0174222" y="4382332"/>
            <a:ext cx="2828727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54" name="Text 52"/>
          <p:cNvSpPr/>
          <p:nvPr/>
        </p:nvSpPr>
        <p:spPr>
          <a:xfrm>
            <a:off x="10174222" y="4153960"/>
            <a:ext cx="956601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RESOLUTION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2563244" y="4132799"/>
            <a:ext cx="515904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 DPI</a:t>
            </a:r>
            <a:endParaRPr lang="en-US" sz="825" dirty="0"/>
          </a:p>
        </p:txBody>
      </p:sp>
      <p:sp>
        <p:nvSpPr>
          <p:cNvPr id="56" name="Shape 54"/>
          <p:cNvSpPr/>
          <p:nvPr/>
        </p:nvSpPr>
        <p:spPr>
          <a:xfrm>
            <a:off x="10174222" y="4718516"/>
            <a:ext cx="2828727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57" name="Text 55"/>
          <p:cNvSpPr/>
          <p:nvPr/>
        </p:nvSpPr>
        <p:spPr>
          <a:xfrm>
            <a:off x="10174222" y="4490145"/>
            <a:ext cx="705082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 MODE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2751595" y="4468983"/>
            <a:ext cx="327554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CMYK</a:t>
            </a:r>
            <a:endParaRPr lang="en-US" sz="825" dirty="0"/>
          </a:p>
        </p:txBody>
      </p:sp>
      <p:sp>
        <p:nvSpPr>
          <p:cNvPr id="59" name="Shape 57"/>
          <p:cNvSpPr/>
          <p:nvPr/>
        </p:nvSpPr>
        <p:spPr>
          <a:xfrm>
            <a:off x="10174222" y="5054700"/>
            <a:ext cx="2828727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60" name="Text 58"/>
          <p:cNvSpPr/>
          <p:nvPr/>
        </p:nvSpPr>
        <p:spPr>
          <a:xfrm>
            <a:off x="10174222" y="4826338"/>
            <a:ext cx="893597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YELLOW (CMYK)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2060866" y="4805167"/>
            <a:ext cx="1018282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· 13 · 95 · 0</a:t>
            </a:r>
            <a:endParaRPr lang="en-US" sz="825" dirty="0"/>
          </a:p>
        </p:txBody>
      </p:sp>
      <p:sp>
        <p:nvSpPr>
          <p:cNvPr id="62" name="Shape 60"/>
          <p:cNvSpPr/>
          <p:nvPr/>
        </p:nvSpPr>
        <p:spPr>
          <a:xfrm>
            <a:off x="10174222" y="5390894"/>
            <a:ext cx="2828727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63" name="Text 61"/>
          <p:cNvSpPr/>
          <p:nvPr/>
        </p:nvSpPr>
        <p:spPr>
          <a:xfrm>
            <a:off x="10174222" y="5162522"/>
            <a:ext cx="830759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 (CMYK)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2060866" y="5141351"/>
            <a:ext cx="1018282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· 0 · 0 · 100</a:t>
            </a:r>
            <a:endParaRPr lang="en-US" sz="825" dirty="0"/>
          </a:p>
        </p:txBody>
      </p:sp>
      <p:sp>
        <p:nvSpPr>
          <p:cNvPr id="65" name="Shape 63"/>
          <p:cNvSpPr/>
          <p:nvPr/>
        </p:nvSpPr>
        <p:spPr>
          <a:xfrm>
            <a:off x="10174222" y="5727078"/>
            <a:ext cx="2828727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66" name="Text 64"/>
          <p:cNvSpPr/>
          <p:nvPr/>
        </p:nvSpPr>
        <p:spPr>
          <a:xfrm>
            <a:off x="10174222" y="5498706"/>
            <a:ext cx="893597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TEXT MIN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2814433" y="5477545"/>
            <a:ext cx="264716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8pt</a:t>
            </a:r>
            <a:endParaRPr lang="en-US" sz="825" dirty="0"/>
          </a:p>
        </p:txBody>
      </p:sp>
      <p:sp>
        <p:nvSpPr>
          <p:cNvPr id="68" name="Shape 66"/>
          <p:cNvSpPr/>
          <p:nvPr/>
        </p:nvSpPr>
        <p:spPr>
          <a:xfrm>
            <a:off x="10174222" y="6063262"/>
            <a:ext cx="2828727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69" name="Text 67"/>
          <p:cNvSpPr/>
          <p:nvPr/>
        </p:nvSpPr>
        <p:spPr>
          <a:xfrm>
            <a:off x="10174222" y="5834890"/>
            <a:ext cx="830759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HEADLINE MIN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2751595" y="5813729"/>
            <a:ext cx="327554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24pt</a:t>
            </a:r>
            <a:endParaRPr lang="en-US" sz="825" dirty="0"/>
          </a:p>
        </p:txBody>
      </p:sp>
      <p:sp>
        <p:nvSpPr>
          <p:cNvPr id="71" name="Text 69"/>
          <p:cNvSpPr/>
          <p:nvPr/>
        </p:nvSpPr>
        <p:spPr>
          <a:xfrm>
            <a:off x="10174222" y="6171084"/>
            <a:ext cx="767920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4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 MARGIN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12437733" y="6149913"/>
            <a:ext cx="641416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3mm bleed</a:t>
            </a:r>
            <a:endParaRPr lang="en-US" sz="825" dirty="0"/>
          </a:p>
        </p:txBody>
      </p:sp>
      <p:sp>
        <p:nvSpPr>
          <p:cNvPr id="73" name="Shape 71"/>
          <p:cNvSpPr/>
          <p:nvPr/>
        </p:nvSpPr>
        <p:spPr>
          <a:xfrm>
            <a:off x="3145234" y="7209904"/>
            <a:ext cx="10134865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74" name="Text 72"/>
          <p:cNvSpPr/>
          <p:nvPr/>
        </p:nvSpPr>
        <p:spPr>
          <a:xfrm>
            <a:off x="3145234" y="7601480"/>
            <a:ext cx="10438911" cy="37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b="1" spc="33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 ICON &amp; FAVICON</a:t>
            </a:r>
            <a:endParaRPr lang="en-US" sz="1650" dirty="0"/>
          </a:p>
        </p:txBody>
      </p:sp>
      <p:sp>
        <p:nvSpPr>
          <p:cNvPr id="75" name="Shape 73"/>
          <p:cNvSpPr/>
          <p:nvPr/>
        </p:nvSpPr>
        <p:spPr>
          <a:xfrm>
            <a:off x="3145234" y="8165213"/>
            <a:ext cx="1143000" cy="1143000"/>
          </a:xfrm>
          <a:prstGeom prst="roundRect">
            <a:avLst>
              <a:gd name="adj" fmla="val 21667"/>
            </a:avLst>
          </a:prstGeom>
          <a:solidFill>
            <a:srgbClr val="FFDE0D"/>
          </a:solidFill>
          <a:ln/>
        </p:spPr>
      </p:sp>
      <p:sp>
        <p:nvSpPr>
          <p:cNvPr id="76" name="Text 74"/>
          <p:cNvSpPr/>
          <p:nvPr/>
        </p:nvSpPr>
        <p:spPr>
          <a:xfrm rot="1199999">
            <a:off x="3502339" y="8412782"/>
            <a:ext cx="50482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5100" dirty="0"/>
          </a:p>
        </p:txBody>
      </p:sp>
      <p:sp>
        <p:nvSpPr>
          <p:cNvPr id="77" name="Text 75"/>
          <p:cNvSpPr/>
          <p:nvPr/>
        </p:nvSpPr>
        <p:spPr>
          <a:xfrm>
            <a:off x="3416598" y="9384283"/>
            <a:ext cx="676473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IOS 60@2×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535951" y="8546213"/>
            <a:ext cx="762000" cy="762000"/>
          </a:xfrm>
          <a:prstGeom prst="roundRect">
            <a:avLst>
              <a:gd name="adj" fmla="val 22500"/>
            </a:avLst>
          </a:prstGeom>
          <a:solidFill>
            <a:srgbClr val="FFDE0D"/>
          </a:solidFill>
          <a:ln/>
        </p:spPr>
      </p:sp>
      <p:sp>
        <p:nvSpPr>
          <p:cNvPr id="79" name="Text 77"/>
          <p:cNvSpPr/>
          <p:nvPr/>
        </p:nvSpPr>
        <p:spPr>
          <a:xfrm rot="1199999">
            <a:off x="4778838" y="8717658"/>
            <a:ext cx="3524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3300" dirty="0"/>
          </a:p>
        </p:txBody>
      </p:sp>
      <p:sp>
        <p:nvSpPr>
          <p:cNvPr id="80" name="Text 78"/>
          <p:cNvSpPr/>
          <p:nvPr/>
        </p:nvSpPr>
        <p:spPr>
          <a:xfrm>
            <a:off x="4516768" y="9384283"/>
            <a:ext cx="876565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48DP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5779162" y="8774906"/>
            <a:ext cx="533301" cy="533301"/>
          </a:xfrm>
          <a:prstGeom prst="roundRect">
            <a:avLst>
              <a:gd name="adj" fmla="val 21433"/>
            </a:avLst>
          </a:prstGeom>
          <a:solidFill>
            <a:srgbClr val="FFDE0D"/>
          </a:solidFill>
          <a:ln/>
        </p:spPr>
      </p:sp>
      <p:sp>
        <p:nvSpPr>
          <p:cNvPr id="82" name="Text 80"/>
          <p:cNvSpPr/>
          <p:nvPr/>
        </p:nvSpPr>
        <p:spPr>
          <a:xfrm rot="1199999">
            <a:off x="5945717" y="8889163"/>
            <a:ext cx="2762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5545667" y="9384283"/>
            <a:ext cx="1076490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 28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6955566" y="9003441"/>
            <a:ext cx="304767" cy="304767"/>
          </a:xfrm>
          <a:prstGeom prst="roundRect">
            <a:avLst>
              <a:gd name="adj" fmla="val 18752"/>
            </a:avLst>
          </a:prstGeom>
          <a:solidFill>
            <a:srgbClr val="FFDE0D"/>
          </a:solidFill>
          <a:ln/>
        </p:spPr>
      </p:sp>
      <p:sp>
        <p:nvSpPr>
          <p:cNvPr id="85" name="Text 83"/>
          <p:cNvSpPr/>
          <p:nvPr/>
        </p:nvSpPr>
        <p:spPr>
          <a:xfrm rot="1199999">
            <a:off x="7050716" y="9070103"/>
            <a:ext cx="1905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350" dirty="0"/>
          </a:p>
        </p:txBody>
      </p:sp>
      <p:sp>
        <p:nvSpPr>
          <p:cNvPr id="86" name="Text 84"/>
          <p:cNvSpPr/>
          <p:nvPr/>
        </p:nvSpPr>
        <p:spPr>
          <a:xfrm>
            <a:off x="6774491" y="9384283"/>
            <a:ext cx="743115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FAVICON 32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7927248" y="9155906"/>
            <a:ext cx="152301" cy="152301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88" name="Text 86"/>
          <p:cNvSpPr/>
          <p:nvPr/>
        </p:nvSpPr>
        <p:spPr>
          <a:xfrm rot="1199999">
            <a:off x="7970061" y="9184353"/>
            <a:ext cx="14287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7669941" y="9384283"/>
            <a:ext cx="743115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FAVICON 16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8793924" y="8165213"/>
            <a:ext cx="1143000" cy="1143000"/>
          </a:xfrm>
          <a:prstGeom prst="roundRect">
            <a:avLst>
              <a:gd name="adj" fmla="val 21667"/>
            </a:avLst>
          </a:prstGeom>
          <a:solidFill>
            <a:srgbClr val="111111"/>
          </a:solidFill>
          <a:ln/>
        </p:spPr>
      </p:sp>
      <p:sp>
        <p:nvSpPr>
          <p:cNvPr id="91" name="Text 89"/>
          <p:cNvSpPr/>
          <p:nvPr/>
        </p:nvSpPr>
        <p:spPr>
          <a:xfrm rot="1199999">
            <a:off x="9151029" y="8412782"/>
            <a:ext cx="50482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b="1" dirty="0">
                <a:solidFill>
                  <a:srgbClr val="FFDE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5100" dirty="0"/>
          </a:p>
        </p:txBody>
      </p:sp>
      <p:sp>
        <p:nvSpPr>
          <p:cNvPr id="92" name="Text 90"/>
          <p:cNvSpPr/>
          <p:nvPr/>
        </p:nvSpPr>
        <p:spPr>
          <a:xfrm>
            <a:off x="8965241" y="9384283"/>
            <a:ext cx="876565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DARK VARIANT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246736"/>
            <a:ext cx="16425335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3" name="Text 1"/>
          <p:cNvSpPr/>
          <p:nvPr/>
        </p:nvSpPr>
        <p:spPr>
          <a:xfrm>
            <a:off x="3145234" y="914298"/>
            <a:ext cx="10438911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spc="116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— SOCIAL MEDIA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145234" y="1462980"/>
            <a:ext cx="10438911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b="1" spc="-108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MEDIA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145234" y="2384887"/>
            <a:ext cx="6278880" cy="541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content should feel like a feed-native extension of the app. Poster energy, direct copy, no decoration. Signal Yellow is used aggressively on social — it stops the scroll.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45234" y="3268926"/>
            <a:ext cx="3251233" cy="3251233"/>
          </a:xfrm>
          <a:prstGeom prst="rect">
            <a:avLst/>
          </a:prstGeom>
          <a:ln w="10583">
            <a:solidFill>
              <a:srgbClr val="E0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55818" y="3279511"/>
            <a:ext cx="3230067" cy="3230067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3308119" y="3431809"/>
            <a:ext cx="114329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01 · CONCERT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95698" y="3431809"/>
            <a:ext cx="437885" cy="209186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10" name="Text 8"/>
          <p:cNvSpPr/>
          <p:nvPr/>
        </p:nvSpPr>
        <p:spPr>
          <a:xfrm>
            <a:off x="5871898" y="3460384"/>
            <a:ext cx="361685" cy="190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1,500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46318" y="4593003"/>
            <a:ext cx="2934538" cy="13453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900" spc="-78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SOUNDS OF LYARI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3346318" y="6014479"/>
            <a:ext cx="293453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 2 MAY · 8 PM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46318" y="6166777"/>
            <a:ext cx="2934538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T2F GARDEN, KARACHI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183334" y="6596230"/>
            <a:ext cx="3272570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· 1:1 · 1080×1080PX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586968" y="3268926"/>
            <a:ext cx="3251233" cy="5763121"/>
          </a:xfrm>
          <a:prstGeom prst="rect">
            <a:avLst/>
          </a:prstGeom>
          <a:ln w="10583">
            <a:solidFill>
              <a:srgbClr val="E0DD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97551" y="3279511"/>
            <a:ext cx="3230067" cy="574195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Text 15"/>
          <p:cNvSpPr/>
          <p:nvPr/>
        </p:nvSpPr>
        <p:spPr>
          <a:xfrm>
            <a:off x="7801240" y="3406676"/>
            <a:ext cx="681434" cy="334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50" spc="-33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 rot="1199999">
            <a:off x="8392881" y="3451156"/>
            <a:ext cx="85725" cy="95250"/>
          </a:xfrm>
          <a:prstGeom prst="roundRect">
            <a:avLst>
              <a:gd name="adj" fmla="val 7431"/>
            </a:avLst>
          </a:prstGeom>
          <a:solidFill>
            <a:srgbClr val="FFDE0D"/>
          </a:solidFill>
          <a:ln/>
        </p:spPr>
      </p:sp>
      <p:sp>
        <p:nvSpPr>
          <p:cNvPr id="19" name="Text 17"/>
          <p:cNvSpPr/>
          <p:nvPr/>
        </p:nvSpPr>
        <p:spPr>
          <a:xfrm rot="1199999">
            <a:off x="8410400" y="3459119"/>
            <a:ext cx="126888" cy="117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7" b="1" spc="-33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627" dirty="0"/>
          </a:p>
        </p:txBody>
      </p:sp>
      <p:sp>
        <p:nvSpPr>
          <p:cNvPr id="20" name="Text 18"/>
          <p:cNvSpPr/>
          <p:nvPr/>
        </p:nvSpPr>
        <p:spPr>
          <a:xfrm>
            <a:off x="8465014" y="3406676"/>
            <a:ext cx="234950" cy="334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50" spc="-33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788051" y="6521155"/>
            <a:ext cx="2934538" cy="175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spc="68" kern="0" dirty="0">
                <a:solidFill>
                  <a:srgbClr val="FFFFFF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OF 27 APR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6788051" y="6810208"/>
            <a:ext cx="2934538" cy="1982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0" spc="-87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NIGHTS </a:t>
            </a:r>
            <a:pPr algn="l" indent="0" marL="0">
              <a:lnSpc>
                <a:spcPct val="88000"/>
              </a:lnSpc>
              <a:buNone/>
            </a:pPr>
            <a:r>
              <a:rPr lang="en-US" sz="4350" spc="-87" kern="0" dirty="0">
                <a:solidFill>
                  <a:srgbClr val="FFDE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WORTH IT.</a:t>
            </a:r>
            <a:endParaRPr lang="en-US" sz="4350" dirty="0"/>
          </a:p>
        </p:txBody>
      </p:sp>
      <p:sp>
        <p:nvSpPr>
          <p:cNvPr id="23" name="Text 21"/>
          <p:cNvSpPr/>
          <p:nvPr/>
        </p:nvSpPr>
        <p:spPr>
          <a:xfrm>
            <a:off x="6625068" y="9108114"/>
            <a:ext cx="3272570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STORY / REEL · 9:16 · 1080×1920PX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0028701" y="3268926"/>
            <a:ext cx="3251399" cy="1838027"/>
          </a:xfrm>
          <a:prstGeom prst="rect">
            <a:avLst/>
          </a:prstGeom>
          <a:ln w="10583">
            <a:solidFill>
              <a:srgbClr val="E0DD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39285" y="3279511"/>
            <a:ext cx="3230232" cy="1816861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26" name="Text 24"/>
          <p:cNvSpPr/>
          <p:nvPr/>
        </p:nvSpPr>
        <p:spPr>
          <a:xfrm>
            <a:off x="10229785" y="3336727"/>
            <a:ext cx="2027833" cy="1378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60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CITY. THIS WEEK.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0229785" y="4753570"/>
            <a:ext cx="2027833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000000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KHI · APR 2026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2181417" y="4637652"/>
            <a:ext cx="736502" cy="366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spc="-36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 rot="1199999">
            <a:off x="12826009" y="4692173"/>
            <a:ext cx="95250" cy="104775"/>
          </a:xfrm>
          <a:prstGeom prst="roundRect">
            <a:avLst>
              <a:gd name="adj" fmla="val 7296"/>
            </a:avLst>
          </a:prstGeom>
          <a:solidFill>
            <a:srgbClr val="111111"/>
          </a:solidFill>
          <a:ln/>
        </p:spPr>
      </p:sp>
      <p:sp>
        <p:nvSpPr>
          <p:cNvPr id="30" name="Text 28"/>
          <p:cNvSpPr/>
          <p:nvPr/>
        </p:nvSpPr>
        <p:spPr>
          <a:xfrm rot="1199999">
            <a:off x="12845120" y="4700859"/>
            <a:ext cx="133228" cy="125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4" b="1" spc="-36" kern="0" dirty="0">
                <a:solidFill>
                  <a:srgbClr val="FFDE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684" dirty="0"/>
          </a:p>
        </p:txBody>
      </p:sp>
      <p:sp>
        <p:nvSpPr>
          <p:cNvPr id="31" name="Text 29"/>
          <p:cNvSpPr/>
          <p:nvPr/>
        </p:nvSpPr>
        <p:spPr>
          <a:xfrm>
            <a:off x="12905715" y="4637652"/>
            <a:ext cx="249502" cy="366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spc="-36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66801" y="5183023"/>
            <a:ext cx="3272741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BANNER · 16:9 · 1200×675PX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145234" y="9717481"/>
            <a:ext cx="10134865" cy="1614951"/>
          </a:xfrm>
          <a:prstGeom prst="rect">
            <a:avLst/>
          </a:prstGeom>
          <a:solidFill>
            <a:srgbClr val="E0DDD4"/>
          </a:solidFill>
          <a:ln w="10583">
            <a:solidFill>
              <a:srgbClr val="E0DD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55818" y="9728067"/>
            <a:ext cx="3361697" cy="1593784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35" name="Text 33"/>
          <p:cNvSpPr/>
          <p:nvPr/>
        </p:nvSpPr>
        <p:spPr>
          <a:xfrm>
            <a:off x="3384352" y="9994636"/>
            <a:ext cx="2991768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spc="99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STYLE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3384352" y="10238380"/>
            <a:ext cx="2991768" cy="855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the most important fact. Event name, date, price. Then a single sentence of context — if needed. End with a bare link, no "click here". No trailing hashtag walls.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6531736" y="9728067"/>
            <a:ext cx="3361697" cy="1593784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38" name="Text 36"/>
          <p:cNvSpPr/>
          <p:nvPr/>
        </p:nvSpPr>
        <p:spPr>
          <a:xfrm>
            <a:off x="6760270" y="9994636"/>
            <a:ext cx="2991768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spc="99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6760270" y="10238380"/>
            <a:ext cx="2991768" cy="855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3–5 hashtags, placed at the end of the caption or in the first comment. Always include #stagd. City + discipline tags when relevant. Never generic (#love, #instagood).</a:t>
            </a:r>
            <a:endParaRPr lang="en-US" sz="975" dirty="0"/>
          </a:p>
        </p:txBody>
      </p:sp>
      <p:sp>
        <p:nvSpPr>
          <p:cNvPr id="40" name="Shape 38"/>
          <p:cNvSpPr/>
          <p:nvPr/>
        </p:nvSpPr>
        <p:spPr>
          <a:xfrm>
            <a:off x="9907655" y="9728067"/>
            <a:ext cx="3361862" cy="1593784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41" name="Text 39"/>
          <p:cNvSpPr/>
          <p:nvPr/>
        </p:nvSpPr>
        <p:spPr>
          <a:xfrm>
            <a:off x="10136188" y="9994636"/>
            <a:ext cx="2991938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spc="99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ASSETS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10136188" y="10238380"/>
            <a:ext cx="2991938" cy="855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photo: Yellow background with e-stamp icon mark, centered. Bio: "Your city's cultural calendar." Link always points to the app or the current week's listings.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2679"/>
            <a:ext cx="16425335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3" name="Text 1"/>
          <p:cNvSpPr/>
          <p:nvPr/>
        </p:nvSpPr>
        <p:spPr>
          <a:xfrm>
            <a:off x="3145234" y="914307"/>
            <a:ext cx="10438911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spc="116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— UI COMPONENTS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145234" y="1462980"/>
            <a:ext cx="10438911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b="1" spc="-108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145234" y="2384887"/>
            <a:ext cx="6278880" cy="541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UI primitives for the app and web. All components use square corners (border-radius: 0), bold type, and the brand color system.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45234" y="3268926"/>
            <a:ext cx="10134865" cy="5869451"/>
          </a:xfrm>
          <a:prstGeom prst="rect">
            <a:avLst/>
          </a:prstGeom>
          <a:solidFill>
            <a:srgbClr val="E0DDD4"/>
          </a:solidFill>
          <a:ln w="10583">
            <a:solidFill>
              <a:srgbClr val="E0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55818" y="3279511"/>
            <a:ext cx="5049738" cy="2377116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8" name="Text 6"/>
          <p:cNvSpPr/>
          <p:nvPr/>
        </p:nvSpPr>
        <p:spPr>
          <a:xfrm>
            <a:off x="3498619" y="3660511"/>
            <a:ext cx="4495061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spc="99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</a:t>
            </a:r>
            <a:endParaRPr lang="en-US" sz="825" dirty="0"/>
          </a:p>
        </p:txBody>
      </p:sp>
      <p:sp>
        <p:nvSpPr>
          <p:cNvPr id="9" name="Shape 7"/>
          <p:cNvSpPr/>
          <p:nvPr/>
        </p:nvSpPr>
        <p:spPr>
          <a:xfrm>
            <a:off x="3498619" y="4029280"/>
            <a:ext cx="1320932" cy="397867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3689119" y="4143580"/>
            <a:ext cx="939932" cy="20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spc="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TICKET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4933818" y="4029280"/>
            <a:ext cx="1390716" cy="397867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12" name="Text 10"/>
          <p:cNvSpPr/>
          <p:nvPr/>
        </p:nvSpPr>
        <p:spPr>
          <a:xfrm>
            <a:off x="5124318" y="4143580"/>
            <a:ext cx="1009716" cy="20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spc="39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NOW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6438801" y="4018694"/>
            <a:ext cx="1264708" cy="419034"/>
          </a:xfrm>
          <a:prstGeom prst="rect">
            <a:avLst/>
          </a:prstGeom>
          <a:ln w="10583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39884" y="4143578"/>
            <a:ext cx="862542" cy="20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spc="39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EVENT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3498619" y="4635671"/>
            <a:ext cx="1147465" cy="289719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3612919" y="4711871"/>
            <a:ext cx="918865" cy="175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· PKR 1,500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4760350" y="4625085"/>
            <a:ext cx="685932" cy="310885"/>
          </a:xfrm>
          <a:prstGeom prst="rect">
            <a:avLst/>
          </a:prstGeom>
          <a:ln w="10583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5234" y="4711868"/>
            <a:ext cx="436166" cy="175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spc="33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5560550" y="4590027"/>
            <a:ext cx="381000" cy="381000"/>
          </a:xfrm>
          <a:prstGeom prst="rect">
            <a:avLst/>
          </a:prstGeom>
          <a:ln w="10583">
            <a:solidFill>
              <a:srgbClr val="111111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4816" y="4704299"/>
            <a:ext cx="152301" cy="15230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3498619" y="5123324"/>
            <a:ext cx="4495061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 SQUARE CORNERS · DM SANS 700 · UPPERCASE · NO RADIUS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8219778" y="3279511"/>
            <a:ext cx="5049738" cy="2377116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23" name="Text 20"/>
          <p:cNvSpPr/>
          <p:nvPr/>
        </p:nvSpPr>
        <p:spPr>
          <a:xfrm>
            <a:off x="8562579" y="3660511"/>
            <a:ext cx="4495061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spc="99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&amp; CHIPS</a:t>
            </a:r>
            <a:endParaRPr lang="en-US" sz="825" dirty="0"/>
          </a:p>
        </p:txBody>
      </p:sp>
      <p:sp>
        <p:nvSpPr>
          <p:cNvPr id="24" name="Shape 21"/>
          <p:cNvSpPr/>
          <p:nvPr/>
        </p:nvSpPr>
        <p:spPr>
          <a:xfrm>
            <a:off x="8562579" y="4018694"/>
            <a:ext cx="695358" cy="268717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Text 22"/>
          <p:cNvSpPr/>
          <p:nvPr/>
        </p:nvSpPr>
        <p:spPr>
          <a:xfrm>
            <a:off x="8676879" y="4066319"/>
            <a:ext cx="542958" cy="21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b="1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CONCERT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9334004" y="4018694"/>
            <a:ext cx="762000" cy="268717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27" name="Text 24"/>
          <p:cNvSpPr/>
          <p:nvPr/>
        </p:nvSpPr>
        <p:spPr>
          <a:xfrm>
            <a:off x="9448304" y="4066319"/>
            <a:ext cx="609600" cy="21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b="1" spc="75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FEATURED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10172072" y="4018694"/>
            <a:ext cx="783167" cy="268717"/>
          </a:xfrm>
          <a:prstGeom prst="rect">
            <a:avLst/>
          </a:prstGeom>
          <a:ln w="10583">
            <a:solidFill>
              <a:srgbClr val="11111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296955" y="4076903"/>
            <a:ext cx="609600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b="1" spc="75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11031307" y="4018694"/>
            <a:ext cx="495267" cy="268717"/>
          </a:xfrm>
          <a:prstGeom prst="rect">
            <a:avLst/>
          </a:prstGeom>
          <a:solidFill>
            <a:srgbClr val="049839"/>
          </a:solidFill>
          <a:ln/>
        </p:spPr>
      </p:sp>
      <p:sp>
        <p:nvSpPr>
          <p:cNvPr id="31" name="Text 28"/>
          <p:cNvSpPr/>
          <p:nvPr/>
        </p:nvSpPr>
        <p:spPr>
          <a:xfrm>
            <a:off x="11145607" y="4066319"/>
            <a:ext cx="342867" cy="21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b="1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1602641" y="4018694"/>
            <a:ext cx="762000" cy="268717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3" name="Text 30"/>
          <p:cNvSpPr/>
          <p:nvPr/>
        </p:nvSpPr>
        <p:spPr>
          <a:xfrm>
            <a:off x="11716941" y="4066319"/>
            <a:ext cx="609600" cy="21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b="1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SOLD OUT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8562579" y="4363482"/>
            <a:ext cx="828642" cy="247551"/>
          </a:xfrm>
          <a:prstGeom prst="rect">
            <a:avLst/>
          </a:prstGeom>
          <a:solidFill>
            <a:srgbClr val="1CAEE5"/>
          </a:solidFill>
          <a:ln/>
        </p:spPr>
      </p:sp>
      <p:sp>
        <p:nvSpPr>
          <p:cNvPr id="35" name="Text 32"/>
          <p:cNvSpPr/>
          <p:nvPr/>
        </p:nvSpPr>
        <p:spPr>
          <a:xfrm>
            <a:off x="8676879" y="4411107"/>
            <a:ext cx="676242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b="1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CALL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9467288" y="4363482"/>
            <a:ext cx="628716" cy="247551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7" name="Text 34"/>
          <p:cNvSpPr/>
          <p:nvPr/>
        </p:nvSpPr>
        <p:spPr>
          <a:xfrm>
            <a:off x="9581588" y="4411107"/>
            <a:ext cx="476316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b="1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8562579" y="4763328"/>
            <a:ext cx="4495061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JETBRAINS MONO · 10PX · 0.1EM TRACKING · ALL CAPS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3155818" y="5670854"/>
            <a:ext cx="5049738" cy="3456947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40" name="Text 37"/>
          <p:cNvSpPr/>
          <p:nvPr/>
        </p:nvSpPr>
        <p:spPr>
          <a:xfrm>
            <a:off x="3498619" y="6051854"/>
            <a:ext cx="4495061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spc="99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CARD</a:t>
            </a:r>
            <a:endParaRPr lang="en-US" sz="825" dirty="0"/>
          </a:p>
        </p:txBody>
      </p:sp>
      <p:sp>
        <p:nvSpPr>
          <p:cNvPr id="41" name="Shape 38"/>
          <p:cNvSpPr/>
          <p:nvPr/>
        </p:nvSpPr>
        <p:spPr>
          <a:xfrm>
            <a:off x="3498619" y="6410027"/>
            <a:ext cx="2476500" cy="2336767"/>
          </a:xfrm>
          <a:prstGeom prst="rect">
            <a:avLst/>
          </a:prstGeom>
          <a:ln w="10583">
            <a:solidFill>
              <a:srgbClr val="11111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509202" y="6420613"/>
            <a:ext cx="2455334" cy="952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3" name="Shape 40"/>
          <p:cNvSpPr/>
          <p:nvPr/>
        </p:nvSpPr>
        <p:spPr>
          <a:xfrm>
            <a:off x="3604452" y="6515863"/>
            <a:ext cx="571831" cy="193807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4" name="Text 41"/>
          <p:cNvSpPr/>
          <p:nvPr/>
        </p:nvSpPr>
        <p:spPr>
          <a:xfrm>
            <a:off x="3680652" y="6544438"/>
            <a:ext cx="495631" cy="174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b="1" spc="68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CONCERT</a:t>
            </a:r>
            <a:endParaRPr lang="en-US" sz="675" dirty="0"/>
          </a:p>
        </p:txBody>
      </p:sp>
      <p:sp>
        <p:nvSpPr>
          <p:cNvPr id="45" name="Shape 42"/>
          <p:cNvSpPr/>
          <p:nvPr/>
        </p:nvSpPr>
        <p:spPr>
          <a:xfrm>
            <a:off x="5357482" y="6515863"/>
            <a:ext cx="511803" cy="193807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46" name="Text 43"/>
          <p:cNvSpPr/>
          <p:nvPr/>
        </p:nvSpPr>
        <p:spPr>
          <a:xfrm>
            <a:off x="5433682" y="6544438"/>
            <a:ext cx="435603" cy="174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05</a:t>
            </a:r>
            <a:endParaRPr lang="en-US" sz="675" dirty="0"/>
          </a:p>
        </p:txBody>
      </p:sp>
      <p:sp>
        <p:nvSpPr>
          <p:cNvPr id="47" name="Text 44"/>
          <p:cNvSpPr/>
          <p:nvPr/>
        </p:nvSpPr>
        <p:spPr>
          <a:xfrm>
            <a:off x="3661503" y="7525410"/>
            <a:ext cx="2226932" cy="237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50" spc="-16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SOUNDS OF LYARI</a:t>
            </a:r>
            <a:endParaRPr lang="en-US" sz="1650" dirty="0"/>
          </a:p>
        </p:txBody>
      </p:sp>
      <p:sp>
        <p:nvSpPr>
          <p:cNvPr id="48" name="Text 45"/>
          <p:cNvSpPr/>
          <p:nvPr/>
        </p:nvSpPr>
        <p:spPr>
          <a:xfrm>
            <a:off x="3661503" y="7800417"/>
            <a:ext cx="2226932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 2 MAY · 8 PM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3661503" y="7971737"/>
            <a:ext cx="2226932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T2F GARDEN, KARACHI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3509202" y="8276332"/>
            <a:ext cx="2455334" cy="10583"/>
          </a:xfrm>
          <a:prstGeom prst="rect">
            <a:avLst/>
          </a:prstGeom>
          <a:solidFill>
            <a:srgbClr val="E0DDD4"/>
          </a:solidFill>
          <a:ln/>
        </p:spPr>
      </p:sp>
      <p:sp>
        <p:nvSpPr>
          <p:cNvPr id="51" name="Text 48"/>
          <p:cNvSpPr/>
          <p:nvPr/>
        </p:nvSpPr>
        <p:spPr>
          <a:xfrm>
            <a:off x="3661503" y="8412426"/>
            <a:ext cx="516731" cy="236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975" dirty="0"/>
          </a:p>
        </p:txBody>
      </p:sp>
      <p:sp>
        <p:nvSpPr>
          <p:cNvPr id="52" name="Shape 49"/>
          <p:cNvSpPr/>
          <p:nvPr/>
        </p:nvSpPr>
        <p:spPr>
          <a:xfrm>
            <a:off x="4963914" y="8382167"/>
            <a:ext cx="848320" cy="258796"/>
          </a:xfrm>
          <a:prstGeom prst="rect">
            <a:avLst/>
          </a:prstGeom>
          <a:solidFill>
            <a:srgbClr val="FFDE0D"/>
          </a:solidFill>
          <a:ln/>
        </p:spPr>
      </p:sp>
      <p:sp>
        <p:nvSpPr>
          <p:cNvPr id="53" name="Text 50"/>
          <p:cNvSpPr/>
          <p:nvPr/>
        </p:nvSpPr>
        <p:spPr>
          <a:xfrm>
            <a:off x="5059164" y="8420267"/>
            <a:ext cx="734020" cy="220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b="1" spc="36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PKR 1,500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8219778" y="5670854"/>
            <a:ext cx="5049738" cy="3456947"/>
          </a:xfrm>
          <a:prstGeom prst="rect">
            <a:avLst/>
          </a:prstGeom>
          <a:solidFill>
            <a:srgbClr val="F4F1E6"/>
          </a:solidFill>
          <a:ln/>
        </p:spPr>
      </p:sp>
      <p:sp>
        <p:nvSpPr>
          <p:cNvPr id="55" name="Text 52"/>
          <p:cNvSpPr/>
          <p:nvPr/>
        </p:nvSpPr>
        <p:spPr>
          <a:xfrm>
            <a:off x="8562579" y="6051854"/>
            <a:ext cx="4495061" cy="2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b="1" spc="99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INPUTS</a:t>
            </a:r>
            <a:endParaRPr lang="en-US" sz="825" dirty="0"/>
          </a:p>
        </p:txBody>
      </p:sp>
      <p:sp>
        <p:nvSpPr>
          <p:cNvPr id="56" name="Text 53"/>
          <p:cNvSpPr/>
          <p:nvPr/>
        </p:nvSpPr>
        <p:spPr>
          <a:xfrm>
            <a:off x="8562579" y="6410027"/>
            <a:ext cx="3139440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EVENTS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8562579" y="6619382"/>
            <a:ext cx="3048000" cy="397867"/>
          </a:xfrm>
          <a:prstGeom prst="rect">
            <a:avLst/>
          </a:prstGeom>
          <a:solidFill>
            <a:srgbClr val="FFFFFF"/>
          </a:solidFill>
          <a:ln w="10583">
            <a:solidFill>
              <a:srgbClr val="11111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562579" y="7169553"/>
            <a:ext cx="3139440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75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8562579" y="7378898"/>
            <a:ext cx="3048000" cy="397867"/>
          </a:xfrm>
          <a:prstGeom prst="rect">
            <a:avLst/>
          </a:prstGeom>
          <a:solidFill>
            <a:srgbClr val="FFFFFF"/>
          </a:solidFill>
          <a:ln w="10583">
            <a:solidFill>
              <a:srgbClr val="111111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725562" y="7503782"/>
            <a:ext cx="2813473" cy="186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8562579" y="7929070"/>
            <a:ext cx="4495061" cy="190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spc="6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1.5PX BORDER · SQUARE · DM SANS 14PX · FOCUS: YELLOW OUTLINE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2026-05-02T21:08:33Z</dcterms:created>
  <dcterms:modified xsi:type="dcterms:W3CDTF">2026-05-02T21:08:33Z</dcterms:modified>
</cp:coreProperties>
</file>